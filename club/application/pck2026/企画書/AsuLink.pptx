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64" r:id="rId4"/>
    <p:sldId id="265" r:id="rId5"/>
    <p:sldId id="259" r:id="rId6"/>
    <p:sldId id="260" r:id="rId7"/>
    <p:sldId id="261" r:id="rId8"/>
    <p:sldId id="262"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750"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332AB-A267-4A5B-BE9C-4BF8B7D5D16B}" type="datetimeFigureOut">
              <a:rPr kumimoji="1" lang="ja-JP" altLang="en-US" smtClean="0"/>
              <a:t>2026/6/4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879B2A-7434-4C1D-9BE0-78F344C99C47}" type="slidenum">
              <a:rPr kumimoji="1" lang="ja-JP" altLang="en-US" smtClean="0"/>
              <a:t>‹#›</a:t>
            </a:fld>
            <a:endParaRPr kumimoji="1" lang="ja-JP" altLang="en-US"/>
          </a:p>
        </p:txBody>
      </p:sp>
    </p:spTree>
    <p:extLst>
      <p:ext uri="{BB962C8B-B14F-4D97-AF65-F5344CB8AC3E}">
        <p14:creationId xmlns:p14="http://schemas.microsoft.com/office/powerpoint/2010/main" val="21214042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今の社会は、人と人との距離を物理的距離でなく</a:t>
            </a:r>
            <a:r>
              <a:rPr kumimoji="1" lang="en-US" altLang="ja-JP" dirty="0"/>
              <a:t>”</a:t>
            </a:r>
            <a:r>
              <a:rPr kumimoji="1" lang="ja-JP" altLang="en-US" dirty="0"/>
              <a:t>つながり方</a:t>
            </a:r>
            <a:r>
              <a:rPr kumimoji="1" lang="en-US" altLang="ja-JP" dirty="0"/>
              <a:t>”</a:t>
            </a:r>
            <a:r>
              <a:rPr kumimoji="1" lang="ja-JP" altLang="en-US" dirty="0"/>
              <a:t>で決める社会になりました。</a:t>
            </a:r>
            <a:endParaRPr kumimoji="1" lang="en-US" altLang="ja-JP" dirty="0"/>
          </a:p>
          <a:p>
            <a:r>
              <a:rPr kumimoji="1" lang="ja-JP" altLang="en-US" dirty="0"/>
              <a:t>（これがどういうことかというと）</a:t>
            </a:r>
            <a:endParaRPr kumimoji="1" lang="en-US" altLang="ja-JP" dirty="0"/>
          </a:p>
          <a:p>
            <a:r>
              <a:rPr kumimoji="1" lang="ja-JP" altLang="en-US" dirty="0"/>
              <a:t>スマホが普及した今の社会では、遠くの人と簡単に繋がれるようになりました。</a:t>
            </a:r>
            <a:endParaRPr kumimoji="1" lang="en-US" altLang="ja-JP" dirty="0"/>
          </a:p>
          <a:p>
            <a:r>
              <a:rPr kumimoji="1" lang="ja-JP" altLang="en-US" dirty="0"/>
              <a:t>見知らぬ人とでも簡単に、</a:t>
            </a:r>
            <a:r>
              <a:rPr kumimoji="1" lang="en-US" altLang="ja-JP" dirty="0"/>
              <a:t>SNS</a:t>
            </a:r>
            <a:r>
              <a:rPr kumimoji="1" lang="ja-JP" altLang="en-US" dirty="0"/>
              <a:t>などもその一例で、人と人との距離は縮まっているように見えます。</a:t>
            </a:r>
            <a:endParaRPr kumimoji="1" lang="en-US" altLang="ja-JP" dirty="0"/>
          </a:p>
          <a:p>
            <a:r>
              <a:rPr kumimoji="1" lang="ja-JP" altLang="en-US" dirty="0"/>
              <a:t>ただ、これは文字だけの会話など「機械的なやりとり」であると感じ、人と人との関わりによって生まれる温かさなどが薄れているのではと感じます。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これは、家族も例外でなく、メッセージアプリを使った温かさの無いやりとりが増えていると思います。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A9879B2A-7434-4C1D-9BE0-78F344C99C47}" type="slidenum">
              <a:rPr kumimoji="1" lang="ja-JP" altLang="en-US" smtClean="0"/>
              <a:t>2</a:t>
            </a:fld>
            <a:endParaRPr kumimoji="1" lang="ja-JP" altLang="en-US"/>
          </a:p>
        </p:txBody>
      </p:sp>
    </p:spTree>
    <p:extLst>
      <p:ext uri="{BB962C8B-B14F-4D97-AF65-F5344CB8AC3E}">
        <p14:creationId xmlns:p14="http://schemas.microsoft.com/office/powerpoint/2010/main" val="585928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家族との距離感について考えてみます。</a:t>
            </a:r>
            <a:endParaRPr kumimoji="1" lang="en-US" altLang="ja-JP" dirty="0"/>
          </a:p>
          <a:p>
            <a:endParaRPr kumimoji="1" lang="en-US" altLang="ja-JP" dirty="0"/>
          </a:p>
          <a:p>
            <a:r>
              <a:rPr kumimoji="1" lang="ja-JP" altLang="en-US" dirty="0"/>
              <a:t>これは、今家族の繋がりが薄れているかどうかアンケートしたグラフです（後日記載）</a:t>
            </a:r>
            <a:endParaRPr kumimoji="1" lang="en-US" altLang="ja-JP" dirty="0"/>
          </a:p>
          <a:p>
            <a:endParaRPr kumimoji="1" lang="en-US" altLang="ja-JP" dirty="0"/>
          </a:p>
          <a:p>
            <a:r>
              <a:rPr kumimoji="1" lang="ja-JP" altLang="en-US" dirty="0"/>
              <a:t>このように、家族間の繋がりが薄れているのではと感じている人は意外と多いのです。</a:t>
            </a:r>
            <a:endParaRPr kumimoji="1" lang="en-US" altLang="ja-JP" dirty="0"/>
          </a:p>
          <a:p>
            <a:r>
              <a:rPr kumimoji="1" lang="ja-JP" altLang="en-US" dirty="0"/>
              <a:t>原因として、先ほど述べた、家族間が「機械的な繋がり」になってしまっていることに加え、</a:t>
            </a:r>
            <a:endParaRPr kumimoji="1" lang="en-US" altLang="ja-JP" dirty="0"/>
          </a:p>
          <a:p>
            <a:r>
              <a:rPr kumimoji="1" lang="ja-JP" altLang="en-US" dirty="0"/>
              <a:t>遠く離れている人と関わることができるからこそ、家族と話している時間は減っているのではと感じました。</a:t>
            </a:r>
            <a:endParaRPr kumimoji="1" lang="en-US" altLang="ja-JP" dirty="0"/>
          </a:p>
          <a:p>
            <a:r>
              <a:rPr kumimoji="1" lang="ja-JP" altLang="en-US" dirty="0"/>
              <a:t>身近だからこそ、離れている人とつながることが出来るスマホという文明は、家族との距離を遠ざけているように思います。</a:t>
            </a:r>
            <a:endParaRPr kumimoji="1" lang="en-US" altLang="ja-JP" dirty="0"/>
          </a:p>
        </p:txBody>
      </p:sp>
      <p:sp>
        <p:nvSpPr>
          <p:cNvPr id="4" name="スライド番号プレースホルダー 3"/>
          <p:cNvSpPr>
            <a:spLocks noGrp="1"/>
          </p:cNvSpPr>
          <p:nvPr>
            <p:ph type="sldNum" sz="quarter" idx="5"/>
          </p:nvPr>
        </p:nvSpPr>
        <p:spPr/>
        <p:txBody>
          <a:bodyPr/>
          <a:lstStyle/>
          <a:p>
            <a:fld id="{A9879B2A-7434-4C1D-9BE0-78F344C99C47}" type="slidenum">
              <a:rPr kumimoji="1" lang="ja-JP" altLang="en-US" smtClean="0"/>
              <a:t>3</a:t>
            </a:fld>
            <a:endParaRPr kumimoji="1" lang="ja-JP" altLang="en-US"/>
          </a:p>
        </p:txBody>
      </p:sp>
    </p:spTree>
    <p:extLst>
      <p:ext uri="{BB962C8B-B14F-4D97-AF65-F5344CB8AC3E}">
        <p14:creationId xmlns:p14="http://schemas.microsoft.com/office/powerpoint/2010/main" val="2154401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ここで、私たちが注目したのが「アルバム」です。</a:t>
            </a:r>
            <a:endParaRPr kumimoji="1" lang="en-US" altLang="ja-JP" dirty="0"/>
          </a:p>
          <a:p>
            <a:r>
              <a:rPr kumimoji="1" lang="ja-JP" altLang="en-US" dirty="0"/>
              <a:t>今の生活にアルバムというものがどれだけあるでしょうか。</a:t>
            </a:r>
            <a:endParaRPr kumimoji="1" lang="en-US" altLang="ja-JP" dirty="0"/>
          </a:p>
          <a:p>
            <a:r>
              <a:rPr kumimoji="1" lang="ja-JP" altLang="en-US" dirty="0"/>
              <a:t>今現在もアルバムを作っているという家庭もあるでしょうが、スマホが普及し、デジタル化が進んだことでアルバムというものが私たちの生活から薄れているのではと思います。</a:t>
            </a:r>
            <a:endParaRPr kumimoji="1" lang="en-US" altLang="ja-JP" dirty="0"/>
          </a:p>
          <a:p>
            <a:r>
              <a:rPr kumimoji="1" lang="ja-JP" altLang="en-US" dirty="0"/>
              <a:t>ここで、アンケート（後日）</a:t>
            </a:r>
            <a:endParaRPr kumimoji="1" lang="en-US" altLang="ja-JP" dirty="0"/>
          </a:p>
          <a:p>
            <a:endParaRPr kumimoji="1" lang="en-US" altLang="ja-JP" dirty="0"/>
          </a:p>
          <a:p>
            <a:r>
              <a:rPr kumimoji="1" lang="ja-JP" altLang="en-US" dirty="0"/>
              <a:t>スマホが普及したことで、記録している写真や動画などの記録は増えているはずなんです。</a:t>
            </a:r>
            <a:endParaRPr kumimoji="1" lang="en-US" altLang="ja-JP" dirty="0"/>
          </a:p>
          <a:p>
            <a:r>
              <a:rPr kumimoji="1" lang="ja-JP" altLang="en-US" dirty="0"/>
              <a:t>アナログのカメラで撮っていた時代より確実に増えているはずなのに、家族と共有するという繋がりは減っているのです。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9879B2A-7434-4C1D-9BE0-78F344C99C47}" type="slidenum">
              <a:rPr kumimoji="1" lang="ja-JP" altLang="en-US" smtClean="0"/>
              <a:t>4</a:t>
            </a:fld>
            <a:endParaRPr kumimoji="1" lang="ja-JP" altLang="en-US"/>
          </a:p>
        </p:txBody>
      </p:sp>
    </p:spTree>
    <p:extLst>
      <p:ext uri="{BB962C8B-B14F-4D97-AF65-F5344CB8AC3E}">
        <p14:creationId xmlns:p14="http://schemas.microsoft.com/office/powerpoint/2010/main" val="346542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そこで、私たちは「</a:t>
            </a:r>
            <a:r>
              <a:rPr kumimoji="1" lang="en-US" altLang="ja-JP" dirty="0" err="1"/>
              <a:t>AsuLink</a:t>
            </a:r>
            <a:r>
              <a:rPr kumimoji="1" lang="ja-JP" altLang="en-US" dirty="0"/>
              <a:t>」を提案します。</a:t>
            </a:r>
            <a:endParaRPr kumimoji="1" lang="en-US" altLang="ja-JP" dirty="0"/>
          </a:p>
          <a:p>
            <a:r>
              <a:rPr kumimoji="1" lang="ja-JP" altLang="en-US" dirty="0"/>
              <a:t>（家族間の繋がりを深めるとともに、思い出を通して明日につなげるアプリ）</a:t>
            </a:r>
            <a:endParaRPr kumimoji="1" lang="en-US" altLang="ja-JP" dirty="0"/>
          </a:p>
          <a:p>
            <a:r>
              <a:rPr kumimoji="1" lang="ja-JP" altLang="en-US" dirty="0"/>
              <a:t>家族団欒のきっかけになる、過去の思い出を「家族みんなで」体験する。</a:t>
            </a:r>
            <a:endParaRPr kumimoji="1" lang="en-US" altLang="ja-JP" dirty="0"/>
          </a:p>
          <a:p>
            <a:r>
              <a:rPr kumimoji="1" lang="ja-JP" altLang="en-US" dirty="0"/>
              <a:t>眠った家族の思い出を掘り起こして、家族が集まるきっかけとなるアプリを目指します。</a:t>
            </a:r>
            <a:endParaRPr kumimoji="1" lang="en-US" altLang="ja-JP" dirty="0"/>
          </a:p>
        </p:txBody>
      </p:sp>
      <p:sp>
        <p:nvSpPr>
          <p:cNvPr id="4" name="スライド番号プレースホルダー 3"/>
          <p:cNvSpPr>
            <a:spLocks noGrp="1"/>
          </p:cNvSpPr>
          <p:nvPr>
            <p:ph type="sldNum" sz="quarter" idx="5"/>
          </p:nvPr>
        </p:nvSpPr>
        <p:spPr/>
        <p:txBody>
          <a:bodyPr/>
          <a:lstStyle/>
          <a:p>
            <a:fld id="{A9879B2A-7434-4C1D-9BE0-78F344C99C47}" type="slidenum">
              <a:rPr kumimoji="1" lang="ja-JP" altLang="en-US" smtClean="0"/>
              <a:t>5</a:t>
            </a:fld>
            <a:endParaRPr kumimoji="1" lang="ja-JP" altLang="en-US"/>
          </a:p>
        </p:txBody>
      </p:sp>
    </p:spTree>
    <p:extLst>
      <p:ext uri="{BB962C8B-B14F-4D97-AF65-F5344CB8AC3E}">
        <p14:creationId xmlns:p14="http://schemas.microsoft.com/office/powerpoint/2010/main" val="3298293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815A48-8932-42B6-E97A-61CBE88C4C79}"/>
              </a:ext>
            </a:extLst>
          </p:cNvPr>
          <p:cNvSpPr>
            <a:spLocks noGrp="1"/>
          </p:cNvSpPr>
          <p:nvPr>
            <p:ph type="ctrTitle"/>
          </p:nvPr>
        </p:nvSpPr>
        <p:spPr>
          <a:xfrm>
            <a:off x="1524000" y="1122363"/>
            <a:ext cx="9144000" cy="2387600"/>
          </a:xfrm>
        </p:spPr>
        <p:txBody>
          <a:bodyPr anchor="ctr"/>
          <a:lstStyle>
            <a:lvl1pPr algn="ctr">
              <a:defRPr sz="60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79A393AD-435C-E66F-8EC1-E0D031192344}"/>
              </a:ext>
            </a:extLst>
          </p:cNvPr>
          <p:cNvSpPr>
            <a:spLocks noGrp="1"/>
          </p:cNvSpPr>
          <p:nvPr>
            <p:ph type="subTitle" idx="1"/>
          </p:nvPr>
        </p:nvSpPr>
        <p:spPr>
          <a:xfrm>
            <a:off x="1524000" y="3602038"/>
            <a:ext cx="9144000" cy="1655762"/>
          </a:xfrm>
        </p:spPr>
        <p:txBody>
          <a:bodyPr/>
          <a:lstStyle>
            <a:lvl1pPr marL="0" indent="0" algn="ctr">
              <a:buNone/>
              <a:defRPr sz="2400">
                <a:latin typeface="ＭＳ Ｐゴシック" panose="020B0600070205080204" pitchFamily="50" charset="-128"/>
                <a:ea typeface="ＭＳ Ｐゴシック" panose="020B060007020508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94DD943-B435-757A-7D64-EE129061023A}"/>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76122DD0-D123-29B3-033C-FBD3792AB1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A3187B-AE17-17DB-1A90-79AC9BDC61DA}"/>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3490593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FCFA42-DA65-34D4-6D3A-1BBF48C0C43D}"/>
              </a:ext>
            </a:extLst>
          </p:cNvPr>
          <p:cNvSpPr>
            <a:spLocks noGrp="1"/>
          </p:cNvSpPr>
          <p:nvPr>
            <p:ph type="title"/>
          </p:nvPr>
        </p:nvSpPr>
        <p:spPr/>
        <p:txBody>
          <a:bodyPr/>
          <a:lstStyle>
            <a:lvl1pPr>
              <a:defRPr>
                <a:latin typeface="ＭＳ Ｐゴシック" panose="020B0600070205080204" pitchFamily="50" charset="-128"/>
                <a:ea typeface="ＭＳ Ｐゴシック" panose="020B0600070205080204" pitchFamily="50"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830DB88-D2BE-8F53-879F-7ED71E480A4C}"/>
              </a:ext>
            </a:extLst>
          </p:cNvPr>
          <p:cNvSpPr>
            <a:spLocks noGrp="1"/>
          </p:cNvSpPr>
          <p:nvPr>
            <p:ph idx="1"/>
          </p:nvPr>
        </p:nvSpPr>
        <p:spPr/>
        <p:txBody>
          <a:bodyPr/>
          <a:lstStyle>
            <a:lvl1pPr>
              <a:defRPr>
                <a:latin typeface="ＭＳ Ｐゴシック" panose="020B0600070205080204" pitchFamily="50" charset="-128"/>
                <a:ea typeface="ＭＳ Ｐゴシック" panose="020B0600070205080204" pitchFamily="50" charset="-128"/>
              </a:defRPr>
            </a:lvl1pPr>
            <a:lvl2pPr>
              <a:defRPr>
                <a:latin typeface="ＭＳ Ｐゴシック" panose="020B0600070205080204" pitchFamily="50" charset="-128"/>
                <a:ea typeface="ＭＳ Ｐゴシック" panose="020B0600070205080204" pitchFamily="50" charset="-128"/>
              </a:defRPr>
            </a:lvl2pPr>
            <a:lvl3pPr>
              <a:defRPr sz="2400">
                <a:latin typeface="ＭＳ Ｐゴシック" panose="020B0600070205080204" pitchFamily="50" charset="-128"/>
                <a:ea typeface="ＭＳ Ｐゴシック" panose="020B0600070205080204" pitchFamily="50" charset="-128"/>
              </a:defRPr>
            </a:lvl3pPr>
            <a:lvl4pPr>
              <a:defRPr sz="2400">
                <a:latin typeface="ＭＳ Ｐゴシック" panose="020B0600070205080204" pitchFamily="50" charset="-128"/>
                <a:ea typeface="ＭＳ Ｐゴシック" panose="020B0600070205080204" pitchFamily="50" charset="-128"/>
              </a:defRPr>
            </a:lvl4pPr>
            <a:lvl5pPr>
              <a:defRPr sz="2400">
                <a:latin typeface="ＭＳ Ｐゴシック" panose="020B0600070205080204" pitchFamily="50" charset="-128"/>
                <a:ea typeface="ＭＳ Ｐゴシック" panose="020B060007020508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A1B98AE6-1E3B-5992-B5F8-6B6372D1FD8B}"/>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1D14513A-54BB-871C-C160-9AE86B0CEE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E59286-3382-8B39-1B41-DF123057D0FE}"/>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1252009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0D2C22-7A15-8021-C9EC-70C8112FD2A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5C0E56-C077-2C6C-B255-7A70F3C4DE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67F1203-AF19-F938-8A87-87AEF4F42576}"/>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9BD09A84-C9C1-6FE8-1397-355F6BC0A79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35F046-CDFC-F5B1-D820-A54D957DAFCD}"/>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1490337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3F0E02-2CF7-786F-ECB2-B69DF783FF8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4A5C395-D0C5-7E85-C9F9-18121C9ED82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FFE37D4-3CF9-DC64-F206-AA7A42983C4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0B461E-71F2-046B-79E5-A7A0BF9FC581}"/>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6" name="フッター プレースホルダー 5">
            <a:extLst>
              <a:ext uri="{FF2B5EF4-FFF2-40B4-BE49-F238E27FC236}">
                <a16:creationId xmlns:a16="http://schemas.microsoft.com/office/drawing/2014/main" id="{7B36869A-1983-9196-F5B5-FBFD356A3F5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E5B9A15-2C50-55F9-3900-3B8B26D2F192}"/>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1795605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FB0C91-C020-F2BE-FE3C-05D7F2427C8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1A8061-A734-1675-9A05-9704B0B16C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52AC2FA-7E44-D6FD-8294-B803B925B2A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40F5520-E63D-1C39-F63A-27C99332C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BACE85B-1EBB-B2E7-0EE3-401945E781D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7D66D6B-1400-2291-35DC-684DED474FDB}"/>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8" name="フッター プレースホルダー 7">
            <a:extLst>
              <a:ext uri="{FF2B5EF4-FFF2-40B4-BE49-F238E27FC236}">
                <a16:creationId xmlns:a16="http://schemas.microsoft.com/office/drawing/2014/main" id="{8D214799-BFC0-C31D-E1AD-544AF8964AC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81E9718-E171-F2B7-6571-62E46C41EF3E}"/>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2786735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0D87B7-83D8-4B58-5D95-81989C81821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0F0B5EE-49EE-6BD0-F7DF-59D8A7460DF9}"/>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4" name="フッター プレースホルダー 3">
            <a:extLst>
              <a:ext uri="{FF2B5EF4-FFF2-40B4-BE49-F238E27FC236}">
                <a16:creationId xmlns:a16="http://schemas.microsoft.com/office/drawing/2014/main" id="{71366EBE-5C5C-83DC-54CA-ACDDA8DA296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E7963AD-B91B-1DE7-F317-6A06CDEB934F}"/>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210922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FE3FF92-84F1-953B-217C-3187E58DBA59}"/>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3" name="フッター プレースホルダー 2">
            <a:extLst>
              <a:ext uri="{FF2B5EF4-FFF2-40B4-BE49-F238E27FC236}">
                <a16:creationId xmlns:a16="http://schemas.microsoft.com/office/drawing/2014/main" id="{87570E12-1446-49CE-6CF7-204B387EBDB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11C87DB-0219-D2F4-4CC6-1C4E75EC3F97}"/>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3163666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AFC38E-BCD1-F82B-7734-EFB5BCF3B48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95755F-656B-A48F-ED69-9482990E0F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90E7F43-1637-F35F-C6E3-22B390788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E4F1CA0-9362-99EC-7370-07CF7CCC8E1F}"/>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6" name="フッター プレースホルダー 5">
            <a:extLst>
              <a:ext uri="{FF2B5EF4-FFF2-40B4-BE49-F238E27FC236}">
                <a16:creationId xmlns:a16="http://schemas.microsoft.com/office/drawing/2014/main" id="{F6E328D2-9224-6273-CEF3-3F1DF65AF9D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E7FF051-7D14-8FDF-9CBE-57DDA5FF8748}"/>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2583422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E3D6F-1842-36CE-1D04-7003581BD39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0EFC551-ADB3-E1D7-A126-114C72D76D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E542E5D-5B91-ACCC-8DA0-2C06CB2264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C5E9CDB-97A8-4BC8-94CB-C1A175027500}"/>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6" name="フッター プレースホルダー 5">
            <a:extLst>
              <a:ext uri="{FF2B5EF4-FFF2-40B4-BE49-F238E27FC236}">
                <a16:creationId xmlns:a16="http://schemas.microsoft.com/office/drawing/2014/main" id="{3E6E0407-C755-85CD-7EC8-0C6971AC5AB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644D234-B4D6-816A-4B4C-ADA1C09ECCAD}"/>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292606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BA3156-5545-EC83-9694-D989A0715D5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1201672-9851-D55B-4585-312F31E6736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1D4DBD2-AA2F-B47F-E3F9-C50E9FB9417B}"/>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851661D9-ABD9-9E8E-7E70-CF3E68C1DF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44D68E-9EEB-301F-C45B-CB8D9A2A1F25}"/>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2974668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89B9409-84EA-2C29-7C36-68A6FB9B092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677055B-5AE5-8D82-53A9-D3EC6A0D4F4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50C4E2-233E-C213-7DA1-F6585DBCF44D}"/>
              </a:ext>
            </a:extLst>
          </p:cNvPr>
          <p:cNvSpPr>
            <a:spLocks noGrp="1"/>
          </p:cNvSpPr>
          <p:nvPr>
            <p:ph type="dt" sz="half" idx="10"/>
          </p:nvPr>
        </p:nvSpPr>
        <p:spPr/>
        <p:txBody>
          <a:bodyPr/>
          <a:lstStyle/>
          <a:p>
            <a:fld id="{79E2737C-7630-4B11-9487-992F9276E9B0}"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14BC93FD-FF67-E4B1-B4A5-18FFB109F20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221642-9344-EADF-7613-0AB6053B58EE}"/>
              </a:ext>
            </a:extLst>
          </p:cNvPr>
          <p:cNvSpPr>
            <a:spLocks noGrp="1"/>
          </p:cNvSpPr>
          <p:nvPr>
            <p:ph type="sldNum" sz="quarter" idx="12"/>
          </p:nvPr>
        </p:nvSpPr>
        <p:spPr/>
        <p:txBody>
          <a:bodyPr/>
          <a:lstStyle/>
          <a:p>
            <a:fld id="{05A019BB-EDF9-4475-BD20-E9537BEF9C26}" type="slidenum">
              <a:rPr kumimoji="1" lang="ja-JP" altLang="en-US" smtClean="0"/>
              <a:t>‹#›</a:t>
            </a:fld>
            <a:endParaRPr kumimoji="1" lang="ja-JP" altLang="en-US"/>
          </a:p>
        </p:txBody>
      </p:sp>
    </p:spTree>
    <p:extLst>
      <p:ext uri="{BB962C8B-B14F-4D97-AF65-F5344CB8AC3E}">
        <p14:creationId xmlns:p14="http://schemas.microsoft.com/office/powerpoint/2010/main" val="505837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BF0286B-F371-DF83-B0FC-759DFADD69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85E25AF7-B189-26C2-123B-8FA11DDEA2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BD3122DC-376A-1DA2-1CB5-871758D1FA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737C-7630-4B11-9487-992F9276E9B0}"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5993250F-7C01-315E-7577-11E6D31117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0585750-C932-6AFD-28B1-20C8D97510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A019BB-EDF9-4475-BD20-E9537BEF9C26}" type="slidenum">
              <a:rPr kumimoji="1" lang="ja-JP" altLang="en-US" smtClean="0"/>
              <a:t>‹#›</a:t>
            </a:fld>
            <a:endParaRPr kumimoji="1" lang="ja-JP" altLang="en-US"/>
          </a:p>
        </p:txBody>
      </p:sp>
      <p:sp>
        <p:nvSpPr>
          <p:cNvPr id="7" name="楕円 6">
            <a:extLst>
              <a:ext uri="{FF2B5EF4-FFF2-40B4-BE49-F238E27FC236}">
                <a16:creationId xmlns:a16="http://schemas.microsoft.com/office/drawing/2014/main" id="{1BE6ECDE-DCB9-646D-B36A-98557D5500F8}"/>
              </a:ext>
            </a:extLst>
          </p:cNvPr>
          <p:cNvSpPr/>
          <p:nvPr userDrawn="1"/>
        </p:nvSpPr>
        <p:spPr>
          <a:xfrm>
            <a:off x="-3651793" y="3347137"/>
            <a:ext cx="4439729" cy="4351338"/>
          </a:xfrm>
          <a:prstGeom prst="ellipse">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E89F68A7-AE60-658C-A46E-A003BE259181}"/>
              </a:ext>
            </a:extLst>
          </p:cNvPr>
          <p:cNvSpPr/>
          <p:nvPr userDrawn="1"/>
        </p:nvSpPr>
        <p:spPr>
          <a:xfrm>
            <a:off x="-2963684" y="4501844"/>
            <a:ext cx="4439729" cy="4351338"/>
          </a:xfrm>
          <a:prstGeom prst="ellipse">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A0BC7E9A-AF4A-447F-EC2E-F0D4B256E4CE}"/>
              </a:ext>
            </a:extLst>
          </p:cNvPr>
          <p:cNvSpPr/>
          <p:nvPr userDrawn="1"/>
        </p:nvSpPr>
        <p:spPr>
          <a:xfrm>
            <a:off x="9133935" y="-1557879"/>
            <a:ext cx="4439729" cy="4351338"/>
          </a:xfrm>
          <a:prstGeom prst="ellipse">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3102BFF1-732D-DBA5-4749-4A9D734F435C}"/>
              </a:ext>
            </a:extLst>
          </p:cNvPr>
          <p:cNvSpPr/>
          <p:nvPr userDrawn="1"/>
        </p:nvSpPr>
        <p:spPr>
          <a:xfrm>
            <a:off x="10238508" y="-590046"/>
            <a:ext cx="4439729" cy="4351338"/>
          </a:xfrm>
          <a:prstGeom prst="ellipse">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468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b="1" kern="1200">
          <a:solidFill>
            <a:schemeClr val="tx1"/>
          </a:solidFill>
          <a:latin typeface="ＭＳ Ｐゴシック" panose="020B0600070205080204" pitchFamily="50" charset="-128"/>
          <a:ea typeface="ＭＳ Ｐゴシック" panose="020B060007020508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1" kern="1200">
          <a:solidFill>
            <a:schemeClr val="tx1"/>
          </a:solidFill>
          <a:latin typeface="ＭＳ Ｐゴシック" panose="020B0600070205080204" pitchFamily="50" charset="-128"/>
          <a:ea typeface="ＭＳ Ｐゴシック" panose="020B060007020508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9D648A-7AE0-B5EB-706C-8BCF037888AB}"/>
              </a:ext>
            </a:extLst>
          </p:cNvPr>
          <p:cNvSpPr>
            <a:spLocks noGrp="1"/>
          </p:cNvSpPr>
          <p:nvPr>
            <p:ph type="ctrTitle"/>
          </p:nvPr>
        </p:nvSpPr>
        <p:spPr/>
        <p:txBody>
          <a:bodyPr/>
          <a:lstStyle/>
          <a:p>
            <a:r>
              <a:rPr kumimoji="1" lang="en-US" altLang="ja-JP" dirty="0" err="1"/>
              <a:t>AsuLink</a:t>
            </a:r>
            <a:endParaRPr kumimoji="1" lang="ja-JP" altLang="en-US" dirty="0"/>
          </a:p>
        </p:txBody>
      </p:sp>
      <p:sp>
        <p:nvSpPr>
          <p:cNvPr id="3" name="字幕 2">
            <a:extLst>
              <a:ext uri="{FF2B5EF4-FFF2-40B4-BE49-F238E27FC236}">
                <a16:creationId xmlns:a16="http://schemas.microsoft.com/office/drawing/2014/main" id="{E82E9D79-4370-0B3A-7B60-81AC89E095F4}"/>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275143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20CFE-EA7B-8BC8-71F2-759459DA4E5A}"/>
              </a:ext>
            </a:extLst>
          </p:cNvPr>
          <p:cNvSpPr>
            <a:spLocks noGrp="1"/>
          </p:cNvSpPr>
          <p:nvPr>
            <p:ph type="title"/>
          </p:nvPr>
        </p:nvSpPr>
        <p:spPr/>
        <p:txBody>
          <a:bodyPr/>
          <a:lstStyle/>
          <a:p>
            <a:r>
              <a:rPr kumimoji="1" lang="ja-JP" altLang="en-US" dirty="0"/>
              <a:t>今の社会</a:t>
            </a:r>
          </a:p>
        </p:txBody>
      </p:sp>
      <p:sp>
        <p:nvSpPr>
          <p:cNvPr id="3" name="コンテンツ プレースホルダー 2">
            <a:extLst>
              <a:ext uri="{FF2B5EF4-FFF2-40B4-BE49-F238E27FC236}">
                <a16:creationId xmlns:a16="http://schemas.microsoft.com/office/drawing/2014/main" id="{74ADE760-6C54-6743-723C-019EE47BF227}"/>
              </a:ext>
            </a:extLst>
          </p:cNvPr>
          <p:cNvSpPr>
            <a:spLocks noGrp="1"/>
          </p:cNvSpPr>
          <p:nvPr>
            <p:ph idx="1"/>
          </p:nvPr>
        </p:nvSpPr>
        <p:spPr>
          <a:xfrm>
            <a:off x="838200" y="1825625"/>
            <a:ext cx="10515600" cy="1489075"/>
          </a:xfrm>
        </p:spPr>
        <p:txBody>
          <a:bodyPr/>
          <a:lstStyle/>
          <a:p>
            <a:r>
              <a:rPr lang="ja-JP" altLang="en-US" dirty="0"/>
              <a:t>人と人との距離を</a:t>
            </a:r>
            <a:r>
              <a:rPr lang="en-US" altLang="ja-JP" dirty="0"/>
              <a:t>”</a:t>
            </a:r>
            <a:r>
              <a:rPr lang="ja-JP" altLang="en-US" dirty="0"/>
              <a:t>繋がり方</a:t>
            </a:r>
            <a:r>
              <a:rPr lang="en-US" altLang="ja-JP" dirty="0"/>
              <a:t>”</a:t>
            </a:r>
            <a:r>
              <a:rPr lang="ja-JP" altLang="en-US" dirty="0"/>
              <a:t>で決める社会</a:t>
            </a:r>
            <a:endParaRPr lang="en-US" altLang="ja-JP" dirty="0"/>
          </a:p>
          <a:p>
            <a:r>
              <a:rPr kumimoji="1" lang="ja-JP" altLang="en-US" dirty="0"/>
              <a:t>スマホの普及によって、遠くの人とでも繋がれる</a:t>
            </a:r>
            <a:br>
              <a:rPr kumimoji="1" lang="en-US" altLang="ja-JP" dirty="0"/>
            </a:br>
            <a:r>
              <a:rPr kumimoji="1" lang="en-US" altLang="ja-JP" dirty="0"/>
              <a:t>SNS</a:t>
            </a:r>
            <a:r>
              <a:rPr kumimoji="1" lang="ja-JP" altLang="en-US" dirty="0"/>
              <a:t>はその一例</a:t>
            </a:r>
            <a:endParaRPr kumimoji="1" lang="en-US" altLang="ja-JP" dirty="0"/>
          </a:p>
        </p:txBody>
      </p:sp>
      <p:sp>
        <p:nvSpPr>
          <p:cNvPr id="5" name="コンテンツ プレースホルダー 2">
            <a:extLst>
              <a:ext uri="{FF2B5EF4-FFF2-40B4-BE49-F238E27FC236}">
                <a16:creationId xmlns:a16="http://schemas.microsoft.com/office/drawing/2014/main" id="{51005ACF-9962-84E6-C663-CF3D1BA2A07C}"/>
              </a:ext>
            </a:extLst>
          </p:cNvPr>
          <p:cNvSpPr txBox="1">
            <a:spLocks/>
          </p:cNvSpPr>
          <p:nvPr/>
        </p:nvSpPr>
        <p:spPr>
          <a:xfrm>
            <a:off x="1155700" y="3416301"/>
            <a:ext cx="9664700" cy="21920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1" kern="1200">
                <a:solidFill>
                  <a:schemeClr val="tx1"/>
                </a:solidFill>
                <a:latin typeface="ＭＳ Ｐゴシック" panose="020B0600070205080204" pitchFamily="50" charset="-128"/>
                <a:ea typeface="ＭＳ Ｐゴシック" panose="020B060007020508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人と人との距離は縮まっている？</a:t>
            </a:r>
            <a:endParaRPr lang="en-US" altLang="ja-JP" dirty="0"/>
          </a:p>
          <a:p>
            <a:pPr marL="0" indent="0">
              <a:buNone/>
            </a:pPr>
            <a:endParaRPr lang="en-US" altLang="ja-JP" dirty="0"/>
          </a:p>
          <a:p>
            <a:pPr marL="0" indent="0">
              <a:buNone/>
            </a:pPr>
            <a:r>
              <a:rPr lang="ja-JP" altLang="en-US" dirty="0"/>
              <a:t>文字だけの機械的なやりとり</a:t>
            </a:r>
            <a:endParaRPr lang="en-US" altLang="ja-JP" dirty="0"/>
          </a:p>
          <a:p>
            <a:pPr marL="0" indent="0">
              <a:buNone/>
            </a:pPr>
            <a:r>
              <a:rPr lang="ja-JP" altLang="en-US" dirty="0"/>
              <a:t>⇒心の距離は本当に縮まっているのだろうか？</a:t>
            </a:r>
            <a:endParaRPr lang="en-US" altLang="ja-JP" dirty="0"/>
          </a:p>
        </p:txBody>
      </p:sp>
    </p:spTree>
    <p:extLst>
      <p:ext uri="{BB962C8B-B14F-4D97-AF65-F5344CB8AC3E}">
        <p14:creationId xmlns:p14="http://schemas.microsoft.com/office/powerpoint/2010/main" val="175608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CDE4FB-1350-3F05-8BCE-092565D4460B}"/>
              </a:ext>
            </a:extLst>
          </p:cNvPr>
          <p:cNvSpPr>
            <a:spLocks noGrp="1"/>
          </p:cNvSpPr>
          <p:nvPr>
            <p:ph type="title"/>
          </p:nvPr>
        </p:nvSpPr>
        <p:spPr/>
        <p:txBody>
          <a:bodyPr/>
          <a:lstStyle/>
          <a:p>
            <a:r>
              <a:rPr kumimoji="1" lang="ja-JP" altLang="en-US" dirty="0"/>
              <a:t>家族との</a:t>
            </a:r>
            <a:r>
              <a:rPr lang="ja-JP" altLang="en-US" dirty="0"/>
              <a:t>つながり</a:t>
            </a:r>
            <a:endParaRPr kumimoji="1" lang="ja-JP" altLang="en-US" dirty="0"/>
          </a:p>
        </p:txBody>
      </p:sp>
      <p:sp>
        <p:nvSpPr>
          <p:cNvPr id="3" name="コンテンツ プレースホルダー 2">
            <a:extLst>
              <a:ext uri="{FF2B5EF4-FFF2-40B4-BE49-F238E27FC236}">
                <a16:creationId xmlns:a16="http://schemas.microsoft.com/office/drawing/2014/main" id="{B1D44027-2504-39A4-5232-2BE73CA089FA}"/>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445402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2AD17B-87F9-AA18-3176-EBA49E7A8A5E}"/>
              </a:ext>
            </a:extLst>
          </p:cNvPr>
          <p:cNvSpPr>
            <a:spLocks noGrp="1"/>
          </p:cNvSpPr>
          <p:nvPr>
            <p:ph type="title"/>
          </p:nvPr>
        </p:nvSpPr>
        <p:spPr/>
        <p:txBody>
          <a:bodyPr/>
          <a:lstStyle/>
          <a:p>
            <a:r>
              <a:rPr kumimoji="1" lang="ja-JP" altLang="en-US" dirty="0"/>
              <a:t>アルバムについて</a:t>
            </a:r>
          </a:p>
        </p:txBody>
      </p:sp>
      <p:sp>
        <p:nvSpPr>
          <p:cNvPr id="3" name="コンテンツ プレースホルダー 2">
            <a:extLst>
              <a:ext uri="{FF2B5EF4-FFF2-40B4-BE49-F238E27FC236}">
                <a16:creationId xmlns:a16="http://schemas.microsoft.com/office/drawing/2014/main" id="{0996FA27-8198-BA9D-7F41-E6811ADF7B9D}"/>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951016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BC4A6-1444-2EBA-FD7E-2EB23DC5FA50}"/>
              </a:ext>
            </a:extLst>
          </p:cNvPr>
          <p:cNvSpPr>
            <a:spLocks noGrp="1"/>
          </p:cNvSpPr>
          <p:nvPr>
            <p:ph type="title"/>
          </p:nvPr>
        </p:nvSpPr>
        <p:spPr/>
        <p:txBody>
          <a:bodyPr/>
          <a:lstStyle/>
          <a:p>
            <a:r>
              <a:rPr kumimoji="1" lang="ja-JP" altLang="en-US" dirty="0"/>
              <a:t>提案する、主題</a:t>
            </a:r>
          </a:p>
        </p:txBody>
      </p:sp>
      <p:sp>
        <p:nvSpPr>
          <p:cNvPr id="3" name="コンテンツ プレースホルダー 2">
            <a:extLst>
              <a:ext uri="{FF2B5EF4-FFF2-40B4-BE49-F238E27FC236}">
                <a16:creationId xmlns:a16="http://schemas.microsoft.com/office/drawing/2014/main" id="{749E78AE-35ED-ABC5-D840-B202B17D4757}"/>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842328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49A09B-2A0C-9046-8D43-3E3AB4C73C6A}"/>
              </a:ext>
            </a:extLst>
          </p:cNvPr>
          <p:cNvSpPr>
            <a:spLocks noGrp="1"/>
          </p:cNvSpPr>
          <p:nvPr>
            <p:ph type="title"/>
          </p:nvPr>
        </p:nvSpPr>
        <p:spPr/>
        <p:txBody>
          <a:bodyPr/>
          <a:lstStyle/>
          <a:p>
            <a:r>
              <a:rPr kumimoji="1" lang="ja-JP" altLang="en-US" dirty="0"/>
              <a:t>そのためには、</a:t>
            </a:r>
          </a:p>
        </p:txBody>
      </p:sp>
      <p:sp>
        <p:nvSpPr>
          <p:cNvPr id="3" name="コンテンツ プレースホルダー 2">
            <a:extLst>
              <a:ext uri="{FF2B5EF4-FFF2-40B4-BE49-F238E27FC236}">
                <a16:creationId xmlns:a16="http://schemas.microsoft.com/office/drawing/2014/main" id="{55417DB8-36A4-4945-C118-6546101FE524}"/>
              </a:ext>
            </a:extLst>
          </p:cNvPr>
          <p:cNvSpPr>
            <a:spLocks noGrp="1"/>
          </p:cNvSpPr>
          <p:nvPr>
            <p:ph idx="1"/>
          </p:nvPr>
        </p:nvSpPr>
        <p:spPr/>
        <p:txBody>
          <a:bodyPr/>
          <a:lstStyle/>
          <a:p>
            <a:pPr lvl="1"/>
            <a:r>
              <a:rPr kumimoji="1" lang="ja-JP" altLang="en-US" dirty="0"/>
              <a:t>既存のアプリ</a:t>
            </a:r>
            <a:endParaRPr kumimoji="1" lang="en-US" altLang="ja-JP" dirty="0"/>
          </a:p>
          <a:p>
            <a:pPr lvl="1"/>
            <a:r>
              <a:rPr kumimoji="1" lang="ja-JP" altLang="en-US" dirty="0"/>
              <a:t>撮った写真を「眺める」</a:t>
            </a:r>
            <a:br>
              <a:rPr kumimoji="1" lang="en-US" altLang="ja-JP" dirty="0"/>
            </a:br>
            <a:r>
              <a:rPr kumimoji="1" lang="ja-JP" altLang="en-US" dirty="0"/>
              <a:t>これでは体験とは言えない</a:t>
            </a:r>
            <a:endParaRPr kumimoji="1" lang="en-US" altLang="ja-JP" dirty="0"/>
          </a:p>
          <a:p>
            <a:pPr lvl="1"/>
            <a:endParaRPr lang="en-US" altLang="ja-JP" dirty="0"/>
          </a:p>
          <a:p>
            <a:pPr lvl="1"/>
            <a:r>
              <a:rPr lang="ja-JP" altLang="en-US" dirty="0"/>
              <a:t>視覚以外の情報を記録して「臨場感のある」体験を</a:t>
            </a:r>
            <a:br>
              <a:rPr lang="en-US" altLang="ja-JP" dirty="0"/>
            </a:br>
            <a:r>
              <a:rPr lang="ja-JP" altLang="en-US" dirty="0"/>
              <a:t>環境音、人の声、振動 </a:t>
            </a:r>
            <a:r>
              <a:rPr lang="en-US" altLang="ja-JP" dirty="0"/>
              <a:t>etc..</a:t>
            </a:r>
          </a:p>
        </p:txBody>
      </p:sp>
    </p:spTree>
    <p:extLst>
      <p:ext uri="{BB962C8B-B14F-4D97-AF65-F5344CB8AC3E}">
        <p14:creationId xmlns:p14="http://schemas.microsoft.com/office/powerpoint/2010/main" val="3485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91961-98CD-BDCB-F688-9B0E472C5DBC}"/>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F0C08884-5C59-88A3-CB68-C69270083DA9}"/>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019728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EDAD86-CABB-86E9-C585-79C4AD292F8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E7682460-594A-EFF5-C8A2-62FAF19F5F11}"/>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78615815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595</Words>
  <Application>Microsoft Office PowerPoint</Application>
  <PresentationFormat>ワイド画面</PresentationFormat>
  <Paragraphs>45</Paragraphs>
  <Slides>8</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ＭＳ Ｐゴシック</vt:lpstr>
      <vt:lpstr>游ゴシック</vt:lpstr>
      <vt:lpstr>Arial</vt:lpstr>
      <vt:lpstr>Office テーマ</vt:lpstr>
      <vt:lpstr>AsuLink</vt:lpstr>
      <vt:lpstr>今の社会</vt:lpstr>
      <vt:lpstr>家族とのつながり</vt:lpstr>
      <vt:lpstr>アルバムについて</vt:lpstr>
      <vt:lpstr>提案する、主題</vt:lpstr>
      <vt:lpstr>そのためには、</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侑哉 森下</dc:creator>
  <cp:lastModifiedBy>侑哉 森下</cp:lastModifiedBy>
  <cp:revision>31</cp:revision>
  <dcterms:created xsi:type="dcterms:W3CDTF">2026-05-26T07:15:46Z</dcterms:created>
  <dcterms:modified xsi:type="dcterms:W3CDTF">2026-06-04T14:20:46Z</dcterms:modified>
</cp:coreProperties>
</file>