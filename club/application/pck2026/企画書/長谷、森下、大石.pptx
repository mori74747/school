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0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E8EEF9"/>
    <a:srgbClr val="0F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86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>
            <a:extLst>
              <a:ext uri="{FF2B5EF4-FFF2-40B4-BE49-F238E27FC236}">
                <a16:creationId xmlns:a16="http://schemas.microsoft.com/office/drawing/2014/main" id="{3A3E02B1-FB80-8AD6-942A-84A2D09D9266}"/>
              </a:ext>
            </a:extLst>
          </p:cNvPr>
          <p:cNvSpPr/>
          <p:nvPr userDrawn="1"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263BF45B-9B76-0C96-591D-0637F2B94E5C}"/>
              </a:ext>
            </a:extLst>
          </p:cNvPr>
          <p:cNvSpPr/>
          <p:nvPr userDrawn="1"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AsuLink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2743200"/>
            <a:ext cx="6400800" cy="77724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788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見たものだけじゃない。あの感動を、家族</a:t>
            </a: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で「感じる」アルバム。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AAD2847-C5B8-4185-E8EF-76D81A3C1341}"/>
              </a:ext>
            </a:extLst>
          </p:cNvPr>
          <p:cNvCxnSpPr/>
          <p:nvPr/>
        </p:nvCxnSpPr>
        <p:spPr>
          <a:xfrm>
            <a:off x="1662113" y="3261358"/>
            <a:ext cx="5743575" cy="0"/>
          </a:xfrm>
          <a:prstGeom prst="line">
            <a:avLst/>
          </a:prstGeom>
          <a:ln w="19050">
            <a:solidFill>
              <a:srgbClr val="F5A623">
                <a:alpha val="4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B2BF4B02-9B76-E035-0F58-1267558FB625}"/>
              </a:ext>
            </a:extLst>
          </p:cNvPr>
          <p:cNvGrpSpPr/>
          <p:nvPr/>
        </p:nvGrpSpPr>
        <p:grpSpPr>
          <a:xfrm>
            <a:off x="3291840" y="1551305"/>
            <a:ext cx="2651760" cy="2606040"/>
            <a:chOff x="6217920" y="1551305"/>
            <a:chExt cx="2651760" cy="2606040"/>
          </a:xfrm>
        </p:grpSpPr>
        <p:sp>
          <p:nvSpPr>
            <p:cNvPr id="24" name="Shape 11">
              <a:extLst>
                <a:ext uri="{FF2B5EF4-FFF2-40B4-BE49-F238E27FC236}">
                  <a16:creationId xmlns:a16="http://schemas.microsoft.com/office/drawing/2014/main" id="{D2FDF10A-70DC-E707-FF27-541E58FEBD7E}"/>
                </a:ext>
              </a:extLst>
            </p:cNvPr>
            <p:cNvSpPr/>
            <p:nvPr/>
          </p:nvSpPr>
          <p:spPr>
            <a:xfrm>
              <a:off x="6217920" y="1551305"/>
              <a:ext cx="2651760" cy="2606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F88902E9-5276-2B21-EC8B-24342A9CCCA0}"/>
                </a:ext>
              </a:extLst>
            </p:cNvPr>
            <p:cNvSpPr/>
            <p:nvPr/>
          </p:nvSpPr>
          <p:spPr>
            <a:xfrm>
              <a:off x="6355080" y="2395728"/>
              <a:ext cx="237744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家族で過ごす時間の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減少</a:t>
              </a:r>
              <a:endParaRPr lang="en-US" sz="1300" dirty="0"/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0F9F227D-EAC8-BD0E-BA3B-FC233AFE7C4D}"/>
                </a:ext>
              </a:extLst>
            </p:cNvPr>
            <p:cNvSpPr/>
            <p:nvPr/>
          </p:nvSpPr>
          <p:spPr>
            <a:xfrm>
              <a:off x="6355080" y="3165475"/>
              <a:ext cx="237744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「家族の温度」「共同体験」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「</a:t>
              </a:r>
              <a:r>
                <a:rPr lang="en-US" sz="1300" dirty="0" err="1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安心感」が失われてい</a:t>
              </a: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る</a:t>
              </a:r>
              <a:endParaRPr lang="en-US" altLang="ja-JP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endParaRPr lang="en-US" altLang="ja-JP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　時間だけが過ぎている</a:t>
              </a:r>
              <a:endParaRPr lang="en-US" altLang="ja-JP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</p:grpSp>
      <p:sp>
        <p:nvSpPr>
          <p:cNvPr id="3" name="Text 1"/>
          <p:cNvSpPr/>
          <p:nvPr/>
        </p:nvSpPr>
        <p:spPr>
          <a:xfrm>
            <a:off x="457200" y="320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現代の「家族」が失っているもの</a:t>
            </a:r>
            <a:endParaRPr lang="en-US" sz="30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3F8E257-C9EC-B68D-8342-8BCC37F13D85}"/>
              </a:ext>
            </a:extLst>
          </p:cNvPr>
          <p:cNvGrpSpPr/>
          <p:nvPr/>
        </p:nvGrpSpPr>
        <p:grpSpPr>
          <a:xfrm>
            <a:off x="365760" y="1554480"/>
            <a:ext cx="2651760" cy="2606040"/>
            <a:chOff x="365760" y="1554480"/>
            <a:chExt cx="2651760" cy="2606040"/>
          </a:xfrm>
        </p:grpSpPr>
        <p:sp>
          <p:nvSpPr>
            <p:cNvPr id="5" name="Shape 3"/>
            <p:cNvSpPr/>
            <p:nvPr/>
          </p:nvSpPr>
          <p:spPr>
            <a:xfrm>
              <a:off x="365760" y="1554480"/>
              <a:ext cx="2651760" cy="2606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Text 5"/>
            <p:cNvSpPr/>
            <p:nvPr/>
          </p:nvSpPr>
          <p:spPr>
            <a:xfrm>
              <a:off x="502920" y="2395728"/>
              <a:ext cx="237744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ja-JP" altLang="en-US" sz="13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家族との距離感</a:t>
              </a:r>
              <a:endParaRPr lang="en-US" sz="13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42852" y="3158961"/>
              <a:ext cx="251460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SNS</a:t>
              </a: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の普及</a:t>
              </a:r>
              <a:endParaRPr lang="en-US" altLang="ja-JP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身近にいる家族との心の距離が離れている</a:t>
              </a:r>
              <a:endParaRPr lang="en-US" sz="1300" dirty="0"/>
            </a:p>
          </p:txBody>
        </p:sp>
      </p:grpSp>
      <p:sp>
        <p:nvSpPr>
          <p:cNvPr id="13" name="Text 9"/>
          <p:cNvSpPr/>
          <p:nvPr/>
        </p:nvSpPr>
        <p:spPr>
          <a:xfrm>
            <a:off x="3429000" y="2395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55583" y="3154196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4642755-90AA-AFAC-57A3-D761CA274106}"/>
              </a:ext>
            </a:extLst>
          </p:cNvPr>
          <p:cNvGrpSpPr/>
          <p:nvPr/>
        </p:nvGrpSpPr>
        <p:grpSpPr>
          <a:xfrm>
            <a:off x="6217920" y="1551305"/>
            <a:ext cx="2651760" cy="2606040"/>
            <a:chOff x="6217920" y="1551305"/>
            <a:chExt cx="2651760" cy="2606040"/>
          </a:xfrm>
        </p:grpSpPr>
        <p:sp>
          <p:nvSpPr>
            <p:cNvPr id="15" name="Shape 11"/>
            <p:cNvSpPr/>
            <p:nvPr/>
          </p:nvSpPr>
          <p:spPr>
            <a:xfrm>
              <a:off x="6217920" y="1551305"/>
              <a:ext cx="2651760" cy="2606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13"/>
            <p:cNvSpPr/>
            <p:nvPr/>
          </p:nvSpPr>
          <p:spPr>
            <a:xfrm>
              <a:off x="6355080" y="2395728"/>
              <a:ext cx="237744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ja-JP" altLang="en-US" sz="1300" b="1" dirty="0">
                  <a:solidFill>
                    <a:srgbClr val="1A1A2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アルバムの減少</a:t>
              </a:r>
              <a:endParaRPr lang="en-US" sz="13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6355080" y="3165475"/>
              <a:ext cx="237744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デジタル化のアルバム離れ</a:t>
              </a:r>
              <a:endParaRPr lang="en-US" altLang="ja-JP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アルバムという昔あった家族の繋がり</a:t>
              </a:r>
              <a:endParaRPr lang="en-US" altLang="ja-JP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ja-JP" altLang="en-US" sz="13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⇒薄れている</a:t>
              </a:r>
              <a:endParaRPr lang="en-US" sz="1300" dirty="0"/>
            </a:p>
          </p:txBody>
        </p:sp>
      </p:grpSp>
      <p:sp>
        <p:nvSpPr>
          <p:cNvPr id="20" name="Text 15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E94560"/>
                </a:solidFill>
              </a:rPr>
              <a:t>そこで</a:t>
            </a:r>
            <a:r>
              <a:rPr lang="en-US" sz="1300" b="1" dirty="0">
                <a:solidFill>
                  <a:srgbClr val="E94560"/>
                </a:solidFill>
              </a:rPr>
              <a:t>、「</a:t>
            </a:r>
            <a:r>
              <a:rPr lang="en-US" sz="1300" b="1" dirty="0" err="1">
                <a:solidFill>
                  <a:srgbClr val="E94560"/>
                </a:solidFill>
              </a:rPr>
              <a:t>家族の体験」を記録・共有するアプリ</a:t>
            </a:r>
            <a:r>
              <a:rPr lang="ja-JP" altLang="en-US" sz="1300" b="1" dirty="0">
                <a:solidFill>
                  <a:srgbClr val="E94560"/>
                </a:solidFill>
              </a:rPr>
              <a:t>を提案</a:t>
            </a:r>
            <a:endParaRPr lang="en-US" sz="13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C8226FE0-A8F6-5447-65CA-7DAFD22E46C4}"/>
              </a:ext>
            </a:extLst>
          </p:cNvPr>
          <p:cNvSpPr/>
          <p:nvPr/>
        </p:nvSpPr>
        <p:spPr>
          <a:xfrm>
            <a:off x="365760" y="1551305"/>
            <a:ext cx="2651760" cy="320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7375B0A2-D1A6-DFE4-78F4-060846760161}"/>
              </a:ext>
            </a:extLst>
          </p:cNvPr>
          <p:cNvSpPr/>
          <p:nvPr/>
        </p:nvSpPr>
        <p:spPr>
          <a:xfrm>
            <a:off x="3291840" y="1557655"/>
            <a:ext cx="265176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91865E42-9B06-78CB-0881-7518A5FC04F9}"/>
              </a:ext>
            </a:extLst>
          </p:cNvPr>
          <p:cNvSpPr/>
          <p:nvPr/>
        </p:nvSpPr>
        <p:spPr>
          <a:xfrm>
            <a:off x="6217920" y="1557655"/>
            <a:ext cx="2651760" cy="32004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14C8D13-7520-07FC-2F95-038F44946700}"/>
              </a:ext>
            </a:extLst>
          </p:cNvPr>
          <p:cNvSpPr txBox="1"/>
          <p:nvPr/>
        </p:nvSpPr>
        <p:spPr>
          <a:xfrm>
            <a:off x="457200" y="333014"/>
            <a:ext cx="1706874" cy="33855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AsuLink とは？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家族団欒のきっかけになる</a:t>
            </a:r>
            <a:endParaRPr lang="en-US" sz="1400" b="1" dirty="0">
              <a:solidFill>
                <a:srgbClr val="F5A62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過去の思い出を「家族みんなで」体験</a:t>
            </a:r>
            <a:r>
              <a:rPr lang="ja-JP" alt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・共有</a:t>
            </a:r>
            <a:endParaRPr lang="en-US" altLang="ja-JP" sz="14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眠った家族の思い出を掘り起こして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家族が集まるきっかけになるアプリを目指す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749040" cy="6400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noFill/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写真を「眺める」  →  「体験する」 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86300" y="1463040"/>
            <a:ext cx="4114800" cy="310896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00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5A623"/>
                </a:solidFill>
              </a:rPr>
              <a:t>視覚だけじゃない</a:t>
            </a:r>
            <a:endParaRPr lang="en-US" sz="1400" b="1" dirty="0">
              <a:solidFill>
                <a:srgbClr val="F5A623"/>
              </a:solidFill>
            </a:endParaRPr>
          </a:p>
          <a:p>
            <a:pPr marL="0" indent="0" algn="ctr">
              <a:buNone/>
            </a:pPr>
            <a:r>
              <a:rPr lang="ja-JP" altLang="en-US" sz="1400" b="1" dirty="0">
                <a:solidFill>
                  <a:srgbClr val="F5A623"/>
                </a:solidFill>
              </a:rPr>
              <a:t>家族みんなで体験するアルバム</a:t>
            </a:r>
            <a:endParaRPr lang="en-US" sz="1400" b="1" dirty="0">
              <a:solidFill>
                <a:srgbClr val="F5A623"/>
              </a:solidFill>
            </a:endParaRPr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2423160"/>
            <a:ext cx="155448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5" name="Text 13"/>
          <p:cNvSpPr/>
          <p:nvPr/>
        </p:nvSpPr>
        <p:spPr>
          <a:xfrm>
            <a:off x="5147658" y="24780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視覚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47658" y="2807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写真・動画</a:t>
            </a:r>
          </a:p>
        </p:txBody>
      </p:sp>
      <p:sp>
        <p:nvSpPr>
          <p:cNvPr id="17" name="Shape 15"/>
          <p:cNvSpPr/>
          <p:nvPr/>
        </p:nvSpPr>
        <p:spPr>
          <a:xfrm>
            <a:off x="6675120" y="2423160"/>
            <a:ext cx="1471353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2587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5232" y="24780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聴覚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5232" y="2807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環境音・声</a:t>
            </a:r>
          </a:p>
        </p:txBody>
      </p:sp>
      <p:sp>
        <p:nvSpPr>
          <p:cNvPr id="22" name="Shape 20"/>
          <p:cNvSpPr/>
          <p:nvPr/>
        </p:nvSpPr>
        <p:spPr>
          <a:xfrm>
            <a:off x="4937760" y="3429000"/>
            <a:ext cx="155448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24" name="Text 22"/>
          <p:cNvSpPr/>
          <p:nvPr/>
        </p:nvSpPr>
        <p:spPr>
          <a:xfrm>
            <a:off x="4809744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7655" y="3483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触覚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47655" y="3813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バイブレーション</a:t>
            </a:r>
          </a:p>
        </p:txBody>
      </p:sp>
      <p:sp>
        <p:nvSpPr>
          <p:cNvPr id="27" name="Shape 25"/>
          <p:cNvSpPr/>
          <p:nvPr/>
        </p:nvSpPr>
        <p:spPr>
          <a:xfrm>
            <a:off x="6675120" y="3429000"/>
            <a:ext cx="1471353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41375" y="3483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/>
              <a:t>雰囲気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41375" y="3813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/>
              <a:t>光の色で表現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latin typeface="Corbel" panose="020B0503020204020204" pitchFamily="34" charset="0"/>
              </a:rPr>
              <a:t>UI</a:t>
            </a:r>
            <a:r>
              <a:rPr lang="ja-JP" altLang="en-US" sz="1200" b="1" dirty="0">
                <a:latin typeface="Corbel" panose="020B0503020204020204" pitchFamily="34" charset="0"/>
              </a:rPr>
              <a:t>で変化</a:t>
            </a:r>
            <a:endParaRPr lang="en-US" sz="1200" b="1" dirty="0">
              <a:latin typeface="Corbel" panose="020B0503020204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BE58D86-FE63-A986-0B68-4BDB7F8CC85E}"/>
              </a:ext>
            </a:extLst>
          </p:cNvPr>
          <p:cNvSpPr txBox="1"/>
          <p:nvPr/>
        </p:nvSpPr>
        <p:spPr>
          <a:xfrm>
            <a:off x="457200" y="333014"/>
            <a:ext cx="1706874" cy="33855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コンセプト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51F2ECE9-5C92-B6DE-730F-B8AF0DEF6C06}"/>
              </a:ext>
            </a:extLst>
          </p:cNvPr>
          <p:cNvSpPr/>
          <p:nvPr/>
        </p:nvSpPr>
        <p:spPr>
          <a:xfrm>
            <a:off x="5013960" y="250698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810E4740-9D77-F0A3-E784-0AA1D286005F}"/>
              </a:ext>
            </a:extLst>
          </p:cNvPr>
          <p:cNvSpPr/>
          <p:nvPr/>
        </p:nvSpPr>
        <p:spPr>
          <a:xfrm>
            <a:off x="5013960" y="3511296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B8044386-2617-E9D1-007B-962009355610}"/>
              </a:ext>
            </a:extLst>
          </p:cNvPr>
          <p:cNvSpPr/>
          <p:nvPr/>
        </p:nvSpPr>
        <p:spPr>
          <a:xfrm>
            <a:off x="6730124" y="2505456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9A0D696E-DAEA-50EA-3B8B-8689249AF668}"/>
              </a:ext>
            </a:extLst>
          </p:cNvPr>
          <p:cNvSpPr/>
          <p:nvPr/>
        </p:nvSpPr>
        <p:spPr>
          <a:xfrm>
            <a:off x="6730124" y="3511296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2つの使い方モード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観賞モード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情報量を絞ったアルバム体験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紙のアルバムのような感覚でめくる</a:t>
            </a:r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944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家族全員でページが同期される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34747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401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1枚ずつ感情とともに鑑</a:t>
            </a:r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スマホを並べると大画面表示</a:t>
            </a:r>
          </a:p>
        </p:txBody>
      </p:sp>
      <p:sp>
        <p:nvSpPr>
          <p:cNvPr id="18" name="Shape 15"/>
          <p:cNvSpPr/>
          <p:nvPr/>
        </p:nvSpPr>
        <p:spPr>
          <a:xfrm>
            <a:off x="466344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18304" y="141732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管理モード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463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A8A"/>
                </a:solidFill>
              </a:rPr>
              <a:t>一般的なカメラロール機能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846320" y="25603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10912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削除・復元・バックアップ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46320" y="30175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10912" y="2944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ファイル整理・検索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34747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10912" y="3401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高齢者向け専用UIモード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846320" y="39319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10912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ユーザー・共有先の管理</a:t>
            </a:r>
            <a:endParaRPr lang="en-US" sz="12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6C225DD-FC05-74FD-9252-5109B58C021C}"/>
              </a:ext>
            </a:extLst>
          </p:cNvPr>
          <p:cNvSpPr txBox="1"/>
          <p:nvPr/>
        </p:nvSpPr>
        <p:spPr>
          <a:xfrm>
            <a:off x="457200" y="333014"/>
            <a:ext cx="1706874" cy="33855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機能説明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/>
              <a:t>主要機能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5087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475488" cy="47548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57" y="1572768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アプリ内カメラ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327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撮影とアルバム管理を一体化</a:t>
            </a:r>
          </a:p>
        </p:txBody>
      </p:sp>
      <p:sp>
        <p:nvSpPr>
          <p:cNvPr id="11" name="Shape 8"/>
          <p:cNvSpPr/>
          <p:nvPr/>
        </p:nvSpPr>
        <p:spPr>
          <a:xfrm>
            <a:off x="3154680" y="1371600"/>
            <a:ext cx="2651760" cy="15087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371600"/>
            <a:ext cx="54864" cy="1508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536192"/>
            <a:ext cx="475488" cy="475488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562" y="157276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6791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即時ファミリー共有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86791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記録完了の瞬間に家族へ配信</a:t>
            </a:r>
          </a:p>
        </p:txBody>
      </p:sp>
      <p:sp>
        <p:nvSpPr>
          <p:cNvPr id="17" name="Shape 13"/>
          <p:cNvSpPr/>
          <p:nvPr/>
        </p:nvSpPr>
        <p:spPr>
          <a:xfrm>
            <a:off x="5989320" y="1371600"/>
            <a:ext cx="2651760" cy="15087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371600"/>
            <a:ext cx="54864" cy="150876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6480" y="1536192"/>
            <a:ext cx="475488" cy="475488"/>
          </a:xfrm>
          <a:prstGeom prst="ellipse">
            <a:avLst/>
          </a:prstGeom>
          <a:solidFill>
            <a:srgbClr val="0F8A8A">
              <a:alpha val="80000"/>
            </a:srgbClr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72768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0255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自動アルバム作成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70255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/>
              <a:t>共有した内容が自動でアルバム化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0040" y="3063240"/>
            <a:ext cx="2651760" cy="15087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63240"/>
            <a:ext cx="54864" cy="15087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227832"/>
            <a:ext cx="475488" cy="475488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26440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33272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家族が近づくと開く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33272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Bluetoothで自動起動</a:t>
            </a:r>
          </a:p>
        </p:txBody>
      </p:sp>
      <p:sp>
        <p:nvSpPr>
          <p:cNvPr id="29" name="Shape 23"/>
          <p:cNvSpPr/>
          <p:nvPr/>
        </p:nvSpPr>
        <p:spPr>
          <a:xfrm>
            <a:off x="3154680" y="3063240"/>
            <a:ext cx="2651760" cy="15087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54680" y="3063240"/>
            <a:ext cx="54864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91840" y="3227832"/>
            <a:ext cx="475488" cy="475488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264408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67912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声のタイムカプセル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867912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未来の家族へ声のメッセージ</a:t>
            </a:r>
          </a:p>
        </p:txBody>
      </p:sp>
      <p:sp>
        <p:nvSpPr>
          <p:cNvPr id="35" name="Shape 28"/>
          <p:cNvSpPr/>
          <p:nvPr/>
        </p:nvSpPr>
        <p:spPr>
          <a:xfrm>
            <a:off x="5989320" y="3063240"/>
            <a:ext cx="2651760" cy="15087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989320" y="3063240"/>
            <a:ext cx="54864" cy="150876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126480" y="3227832"/>
            <a:ext cx="475488" cy="475488"/>
          </a:xfrm>
          <a:prstGeom prst="ellipse">
            <a:avLst/>
          </a:prstGeom>
          <a:solidFill>
            <a:srgbClr val="0F8A8A">
              <a:alpha val="80000"/>
            </a:srgbClr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264408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02552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子どもの成長記録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702552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声の変化を時系列で記録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4BBF89E-2880-5678-6051-29BF6E133797}"/>
              </a:ext>
            </a:extLst>
          </p:cNvPr>
          <p:cNvSpPr txBox="1"/>
          <p:nvPr/>
        </p:nvSpPr>
        <p:spPr>
          <a:xfrm>
            <a:off x="457200" y="333014"/>
            <a:ext cx="1706874" cy="33855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機能説明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AsuLink</a:t>
            </a: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が目指す</a:t>
            </a:r>
            <a:r>
              <a:rPr lang="ja-JP" alt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場所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2379519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家族が「また集まりたい」と思えるきっかけを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技術の力でつくる</a:t>
            </a:r>
            <a:endParaRPr lang="en-US" sz="16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600" b="1" dirty="0"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ja-JP" altLang="en-US" sz="1600" b="1" dirty="0">
                <a:latin typeface="Arial" pitchFamily="34" charset="0"/>
                <a:cs typeface="Arial" pitchFamily="34" charset="-120"/>
              </a:rPr>
              <a:t>家族の思い出を体験・共有して心の距離を縮める</a:t>
            </a:r>
            <a:endParaRPr lang="en-US" sz="16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DEBDE13-7B12-0F87-4600-CAF347FD9557}"/>
              </a:ext>
            </a:extLst>
          </p:cNvPr>
          <p:cNvCxnSpPr/>
          <p:nvPr/>
        </p:nvCxnSpPr>
        <p:spPr>
          <a:xfrm>
            <a:off x="1662113" y="3496885"/>
            <a:ext cx="5743575" cy="0"/>
          </a:xfrm>
          <a:prstGeom prst="line">
            <a:avLst/>
          </a:prstGeom>
          <a:ln w="19050">
            <a:solidFill>
              <a:srgbClr val="F5A623">
                <a:alpha val="4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 6">
            <a:extLst>
              <a:ext uri="{FF2B5EF4-FFF2-40B4-BE49-F238E27FC236}">
                <a16:creationId xmlns:a16="http://schemas.microsoft.com/office/drawing/2014/main" id="{8BEF22EA-9DB7-24A9-B8B3-359B73036ED3}"/>
              </a:ext>
            </a:extLst>
          </p:cNvPr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14356BF6-5E6D-F8EB-2207-E06970FE23DD}"/>
              </a:ext>
            </a:extLst>
          </p:cNvPr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198</Words>
  <Application>Microsoft Office PowerPoint</Application>
  <PresentationFormat>画面に合わせる (16:9)</PresentationFormat>
  <Paragraphs>76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Corbel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AsuLink - アルバムアプリ企画書</dc:title>
  <dc:subject>PptxGenJS Presentation</dc:subject>
  <dc:creator>PptxGenJS</dc:creator>
  <cp:lastModifiedBy>侑哉 森下</cp:lastModifiedBy>
  <cp:revision>112</cp:revision>
  <dcterms:created xsi:type="dcterms:W3CDTF">2026-05-21T05:13:50Z</dcterms:created>
  <dcterms:modified xsi:type="dcterms:W3CDTF">2026-06-04T07:43:47Z</dcterms:modified>
</cp:coreProperties>
</file>