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0" r:id="rId1"/>
  </p:sldMasterIdLst>
  <p:sldIdLst>
    <p:sldId id="256" r:id="rId2"/>
    <p:sldId id="257" r:id="rId3"/>
    <p:sldId id="259" r:id="rId4"/>
    <p:sldId id="260" r:id="rId5"/>
    <p:sldId id="258" r:id="rId6"/>
    <p:sldId id="261" r:id="rId7"/>
    <p:sldId id="262" r:id="rId8"/>
    <p:sldId id="264" r:id="rId9"/>
    <p:sldId id="263" r:id="rId10"/>
    <p:sldId id="265" r:id="rId1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16ED4931-B3B4-4640-75DC-E4A57210945C}"/>
              </a:ext>
            </a:extLst>
          </p:cNvPr>
          <p:cNvSpPr/>
          <p:nvPr/>
        </p:nvSpPr>
        <p:spPr>
          <a:xfrm>
            <a:off x="5555" y="0"/>
            <a:ext cx="1218644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DB163EC-CE3F-232C-D645-4D360346F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48EE4-DA5D-4415-BB13-96BD94A113A4}" type="datetimeFigureOut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B25E777-D7BA-09C9-B889-64922B7A5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1A850EE-F7F5-9D56-1504-775E27438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A2521-0C99-4CC1-83CE-0369A67DCC66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4B9EED87-8696-45DA-9F6A-F3E4A50CF86E}"/>
              </a:ext>
            </a:extLst>
          </p:cNvPr>
          <p:cNvSpPr/>
          <p:nvPr/>
        </p:nvSpPr>
        <p:spPr>
          <a:xfrm>
            <a:off x="6239991" y="202691"/>
            <a:ext cx="2113472" cy="2113472"/>
          </a:xfrm>
          <a:prstGeom prst="ellipse">
            <a:avLst/>
          </a:prstGeom>
          <a:solidFill>
            <a:srgbClr val="FF000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3187708A-D40F-D9EF-0142-08354D535C85}"/>
              </a:ext>
            </a:extLst>
          </p:cNvPr>
          <p:cNvSpPr/>
          <p:nvPr/>
        </p:nvSpPr>
        <p:spPr>
          <a:xfrm>
            <a:off x="9877463" y="1996027"/>
            <a:ext cx="2113472" cy="2113472"/>
          </a:xfrm>
          <a:prstGeom prst="ellipse">
            <a:avLst/>
          </a:prstGeom>
          <a:solidFill>
            <a:srgbClr val="33CC33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D7F7FF8C-2EC1-C39B-309B-5B4998E0333E}"/>
              </a:ext>
            </a:extLst>
          </p:cNvPr>
          <p:cNvSpPr/>
          <p:nvPr/>
        </p:nvSpPr>
        <p:spPr>
          <a:xfrm>
            <a:off x="7449127" y="3876421"/>
            <a:ext cx="2113472" cy="2113472"/>
          </a:xfrm>
          <a:prstGeom prst="ellipse">
            <a:avLst/>
          </a:prstGeom>
          <a:solidFill>
            <a:srgbClr val="0070C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48CB8E83-BDC1-CEE7-3EDC-28C3AAF4F5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587600"/>
          </a:xfrm>
          <a:solidFill>
            <a:schemeClr val="bg1">
              <a:alpha val="30000"/>
            </a:schemeClr>
          </a:solidFill>
          <a:ln w="63500">
            <a:noFill/>
          </a:ln>
        </p:spPr>
        <p:txBody>
          <a:bodyPr anchor="ctr" anchorCtr="1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41BBEC8-FEEC-9631-EEEC-2FAE711899C9}"/>
              </a:ext>
            </a:extLst>
          </p:cNvPr>
          <p:cNvSpPr>
            <a:spLocks noGrp="1" noChangeAspect="1"/>
          </p:cNvSpPr>
          <p:nvPr>
            <p:ph type="subTitle" idx="1" hasCustomPrompt="1"/>
          </p:nvPr>
        </p:nvSpPr>
        <p:spPr>
          <a:xfrm>
            <a:off x="3188497" y="3288006"/>
            <a:ext cx="5869690" cy="1080000"/>
          </a:xfrm>
          <a:solidFill>
            <a:schemeClr val="bg1">
              <a:alpha val="30000"/>
            </a:schemeClr>
          </a:solidFill>
        </p:spPr>
        <p:txBody>
          <a:bodyPr anchor="ctr" anchorCtr="1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 dirty="0"/>
              <a:t>テスト用に表示して</a:t>
            </a:r>
          </a:p>
        </p:txBody>
      </p: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F5AEFEA0-A035-CB88-5EAC-0FBC3596D40A}"/>
              </a:ext>
            </a:extLst>
          </p:cNvPr>
          <p:cNvCxnSpPr/>
          <p:nvPr/>
        </p:nvCxnSpPr>
        <p:spPr>
          <a:xfrm>
            <a:off x="4835218" y="4100873"/>
            <a:ext cx="2558472" cy="0"/>
          </a:xfrm>
          <a:prstGeom prst="line">
            <a:avLst/>
          </a:prstGeom>
          <a:ln w="38100">
            <a:solidFill>
              <a:srgbClr val="0070C0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フリーフォーム: 図形 11">
            <a:extLst>
              <a:ext uri="{FF2B5EF4-FFF2-40B4-BE49-F238E27FC236}">
                <a16:creationId xmlns:a16="http://schemas.microsoft.com/office/drawing/2014/main" id="{AB70EF3A-39DD-5362-9245-8B984B9800A3}"/>
              </a:ext>
            </a:extLst>
          </p:cNvPr>
          <p:cNvSpPr/>
          <p:nvPr/>
        </p:nvSpPr>
        <p:spPr>
          <a:xfrm flipH="1">
            <a:off x="9562599" y="1645991"/>
            <a:ext cx="1105400" cy="1063972"/>
          </a:xfrm>
          <a:custGeom>
            <a:avLst/>
            <a:gdLst>
              <a:gd name="connsiteX0" fmla="*/ 1 w 3533954"/>
              <a:gd name="connsiteY0" fmla="*/ 189780 h 1532530"/>
              <a:gd name="connsiteX1" fmla="*/ 3218873 w 3533954"/>
              <a:gd name="connsiteY1" fmla="*/ 1532529 h 1532530"/>
              <a:gd name="connsiteX2" fmla="*/ 1 w 3533954"/>
              <a:gd name="connsiteY2" fmla="*/ 1532529 h 1532530"/>
              <a:gd name="connsiteX3" fmla="*/ 0 w 3533954"/>
              <a:gd name="connsiteY3" fmla="*/ 0 h 1532530"/>
              <a:gd name="connsiteX4" fmla="*/ 0 w 3533954"/>
              <a:gd name="connsiteY4" fmla="*/ 1532530 h 1532530"/>
              <a:gd name="connsiteX5" fmla="*/ 3533954 w 3533954"/>
              <a:gd name="connsiteY5" fmla="*/ 1532530 h 15325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33954" h="1532530">
                <a:moveTo>
                  <a:pt x="1" y="189780"/>
                </a:moveTo>
                <a:lnTo>
                  <a:pt x="3218873" y="1532529"/>
                </a:lnTo>
                <a:lnTo>
                  <a:pt x="1" y="1532529"/>
                </a:lnTo>
                <a:close/>
                <a:moveTo>
                  <a:pt x="0" y="0"/>
                </a:moveTo>
                <a:lnTo>
                  <a:pt x="0" y="1532530"/>
                </a:lnTo>
                <a:lnTo>
                  <a:pt x="3533954" y="1532530"/>
                </a:lnTo>
                <a:close/>
              </a:path>
            </a:pathLst>
          </a:custGeom>
          <a:solidFill>
            <a:srgbClr val="00B0F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13596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9C303F2-53FF-2ADF-A8D8-65556852D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608FDA1-A63A-0205-9F55-BB2A311D33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C19F496-CEC1-467E-8062-FA004580A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48EE4-DA5D-4415-BB13-96BD94A113A4}" type="datetimeFigureOut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C3913A6-4249-C027-DDD1-82730CF1E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BE96612-9525-F4E4-814E-364FBCF62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A2521-0C99-4CC1-83CE-0369A67DCC6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356373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1BBEB4B-D5CE-24D2-2566-A91154605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D093431-9B25-E1EA-BC35-7CDDE320D0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D413E84-B738-509C-D557-D604E5B49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48EE4-DA5D-4415-BB13-96BD94A113A4}" type="datetimeFigureOut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04DE0F6-25F4-0465-BCED-DF06A3077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B88C247-F293-29B2-970F-1FA39D4F8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A2521-0C99-4CC1-83CE-0369A67DCC6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894682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C7AF014-7D3E-4950-67A2-1ABB4A7E1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93FDCA5-0BEC-0517-8018-27E64943C5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663BBD5-7B0B-4B6C-39FF-0A508913A0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E8C5607-3EE5-8143-E568-6763CB6DC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48EE4-DA5D-4415-BB13-96BD94A113A4}" type="datetimeFigureOut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76226D2-CDA2-B3F5-86EC-157628CD7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00BCA49-FF05-B3C6-55F9-E487BB347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A2521-0C99-4CC1-83CE-0369A67DCC6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32688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8FB7EE5-71FB-017E-1AE4-D6DA9B45A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816E7ED-7DFE-5965-57F5-9EBC170372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5A9D28E-188A-D5AE-89EC-1D45240EBC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910D649A-84E4-768F-EA7A-6051E451D4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183363AD-90BD-5233-F514-C0C33BCD01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9FCBEEF2-E06B-25A6-0B04-EE5729C64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48EE4-DA5D-4415-BB13-96BD94A113A4}" type="datetimeFigureOut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38BBA939-F76C-B41B-E172-5C0C262E3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F744F0AC-8B99-380C-F53B-CF69F5195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A2521-0C99-4CC1-83CE-0369A67DCC6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339818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384A338-7A31-476C-FB53-3B423070E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BE529D0-320B-0B4F-40B0-AB42B64A5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48EE4-DA5D-4415-BB13-96BD94A113A4}" type="datetimeFigureOut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7C2690C-2F8A-DDB9-06EF-9F3C3A4F0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8219385-E292-B74A-E466-2E6CF1D72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A2521-0C99-4CC1-83CE-0369A67DCC6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74683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D99146C2-1CFA-75BB-88A1-10924752E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48EE4-DA5D-4415-BB13-96BD94A113A4}" type="datetimeFigureOut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918A57A-C25C-9E27-814A-E2145C048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39D1559-EFF6-CCF8-271B-21D039C41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A2521-0C99-4CC1-83CE-0369A67DCC6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75709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22C5E8E-44EE-250D-112D-AE78F36E9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8162EBA-9E8D-F0C1-4BDB-728D4C2EE1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B1F942D-CA8E-4CA5-DAF8-67AC1109C2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31E0ECE-BE15-5613-8DC1-66C1DCC0B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48EE4-DA5D-4415-BB13-96BD94A113A4}" type="datetimeFigureOut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70F82A3-02DA-FE2D-E1D3-04AC56846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B99FB54-A7C3-CD0D-C7D0-9D50FE179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A2521-0C99-4CC1-83CE-0369A67DCC6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25345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64C607E-DBDC-0B19-B82F-69E5E0DD4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4251B67A-8645-90D3-481D-AB274D0645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1" lang="ja-JP" altLang="en-US"/>
              <a:t>アイコンをクリックして図を追加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3AACC90-758F-1D5C-1548-AEC4EC21CA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3818808-96B4-5278-6D7E-048F008BD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48EE4-DA5D-4415-BB13-96BD94A113A4}" type="datetimeFigureOut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520FD2E-AE78-159B-D2B3-986D95E84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EAAD02B-809F-264D-C4BA-1F01377FE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A2521-0C99-4CC1-83CE-0369A67DCC6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962001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976FB73-B364-9112-1E3C-7F4D8A364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F290EEB-CA60-F0D2-BD9E-F8FFD12015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0BF39A5-A423-D86D-BA21-D4AA6D227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48EE4-DA5D-4415-BB13-96BD94A113A4}" type="datetimeFigureOut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3B2B0F6-45C1-839C-7AF5-A68701219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1867744-3A33-361E-4456-6F7341210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A2521-0C99-4CC1-83CE-0369A67DCC6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04114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E82CD5F7-B68C-9580-345F-7F4474C6D2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E0085E7-0D97-9BC2-99D7-DAB82635BA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D99BA70-3CBA-C958-C88C-780CECDB0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48EE4-DA5D-4415-BB13-96BD94A113A4}" type="datetimeFigureOut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C864DD3-B772-631E-111F-847AD207D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130B277-3B3D-0C89-845A-D06C4AF6E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A2521-0C99-4CC1-83CE-0369A67DCC6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09036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7F3A7A99-1A24-ABAD-837C-1427DF48D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788E9D3-2353-A604-2D1E-DF9E026ED0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3258BDC-D9A6-9117-0457-97604D0EC6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048EE4-DA5D-4415-BB13-96BD94A113A4}" type="datetimeFigureOut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C6C1AC4-7516-2FB0-B347-693E0A40F0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6729B07-AC7B-814B-2131-0702C73E16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5A2521-0C99-4CC1-83CE-0369A67DCC66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31" name="直線コネクタ 30">
            <a:extLst>
              <a:ext uri="{FF2B5EF4-FFF2-40B4-BE49-F238E27FC236}">
                <a16:creationId xmlns:a16="http://schemas.microsoft.com/office/drawing/2014/main" id="{F5528DAF-8E05-1C62-4B7C-5F5ED0BC93D2}"/>
              </a:ext>
            </a:extLst>
          </p:cNvPr>
          <p:cNvCxnSpPr/>
          <p:nvPr/>
        </p:nvCxnSpPr>
        <p:spPr>
          <a:xfrm>
            <a:off x="5589918" y="301925"/>
            <a:ext cx="5529532" cy="0"/>
          </a:xfrm>
          <a:prstGeom prst="line">
            <a:avLst/>
          </a:prstGeom>
          <a:ln w="50800">
            <a:solidFill>
              <a:srgbClr val="FF0000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コネクタ 31">
            <a:extLst>
              <a:ext uri="{FF2B5EF4-FFF2-40B4-BE49-F238E27FC236}">
                <a16:creationId xmlns:a16="http://schemas.microsoft.com/office/drawing/2014/main" id="{20C2BF06-BCEE-3BE6-2D0A-F029A38BAEDD}"/>
              </a:ext>
            </a:extLst>
          </p:cNvPr>
          <p:cNvCxnSpPr/>
          <p:nvPr/>
        </p:nvCxnSpPr>
        <p:spPr>
          <a:xfrm>
            <a:off x="976741" y="6247259"/>
            <a:ext cx="5529532" cy="0"/>
          </a:xfrm>
          <a:prstGeom prst="line">
            <a:avLst/>
          </a:prstGeom>
          <a:ln w="50800">
            <a:solidFill>
              <a:srgbClr val="33CC33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フリーフォーム: 図形 36">
            <a:extLst>
              <a:ext uri="{FF2B5EF4-FFF2-40B4-BE49-F238E27FC236}">
                <a16:creationId xmlns:a16="http://schemas.microsoft.com/office/drawing/2014/main" id="{930D6BEE-2FA4-2067-AEC7-BBFA1FB37C88}"/>
              </a:ext>
            </a:extLst>
          </p:cNvPr>
          <p:cNvSpPr/>
          <p:nvPr/>
        </p:nvSpPr>
        <p:spPr>
          <a:xfrm rot="5400000">
            <a:off x="-512337" y="483172"/>
            <a:ext cx="1854791" cy="830120"/>
          </a:xfrm>
          <a:custGeom>
            <a:avLst/>
            <a:gdLst>
              <a:gd name="connsiteX0" fmla="*/ 0 w 1450111"/>
              <a:gd name="connsiteY0" fmla="*/ 838200 h 838200"/>
              <a:gd name="connsiteX1" fmla="*/ 0 w 1450111"/>
              <a:gd name="connsiteY1" fmla="*/ 0 h 838200"/>
              <a:gd name="connsiteX2" fmla="*/ 788747 w 1450111"/>
              <a:gd name="connsiteY2" fmla="*/ 261086 h 838200"/>
              <a:gd name="connsiteX3" fmla="*/ 1450111 w 1450111"/>
              <a:gd name="connsiteY3" fmla="*/ 838200 h 838200"/>
              <a:gd name="connsiteX4" fmla="*/ 0 w 1450111"/>
              <a:gd name="connsiteY4" fmla="*/ 838200 h 838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50111" h="838200">
                <a:moveTo>
                  <a:pt x="0" y="838200"/>
                </a:moveTo>
                <a:lnTo>
                  <a:pt x="0" y="0"/>
                </a:lnTo>
                <a:lnTo>
                  <a:pt x="788747" y="261086"/>
                </a:lnTo>
                <a:lnTo>
                  <a:pt x="1450111" y="838200"/>
                </a:lnTo>
                <a:lnTo>
                  <a:pt x="0" y="838200"/>
                </a:lnTo>
                <a:close/>
              </a:path>
            </a:pathLst>
          </a:custGeom>
          <a:solidFill>
            <a:srgbClr val="00B0F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36" name="フリーフォーム: 図形 35">
            <a:extLst>
              <a:ext uri="{FF2B5EF4-FFF2-40B4-BE49-F238E27FC236}">
                <a16:creationId xmlns:a16="http://schemas.microsoft.com/office/drawing/2014/main" id="{39367F9B-62E8-E8C2-54F5-284C1F4C6915}"/>
              </a:ext>
            </a:extLst>
          </p:cNvPr>
          <p:cNvSpPr/>
          <p:nvPr/>
        </p:nvSpPr>
        <p:spPr>
          <a:xfrm rot="5400000">
            <a:off x="-847014" y="817842"/>
            <a:ext cx="2532224" cy="838202"/>
          </a:xfrm>
          <a:custGeom>
            <a:avLst/>
            <a:gdLst>
              <a:gd name="connsiteX0" fmla="*/ 0 w 2532224"/>
              <a:gd name="connsiteY0" fmla="*/ 838202 h 838202"/>
              <a:gd name="connsiteX1" fmla="*/ 0 w 2532224"/>
              <a:gd name="connsiteY1" fmla="*/ 0 h 838202"/>
              <a:gd name="connsiteX2" fmla="*/ 3 w 2532224"/>
              <a:gd name="connsiteY2" fmla="*/ 1 h 838202"/>
              <a:gd name="connsiteX3" fmla="*/ 3 w 2532224"/>
              <a:gd name="connsiteY3" fmla="*/ 838201 h 838202"/>
              <a:gd name="connsiteX4" fmla="*/ 1450114 w 2532224"/>
              <a:gd name="connsiteY4" fmla="*/ 838201 h 838202"/>
              <a:gd name="connsiteX5" fmla="*/ 788750 w 2532224"/>
              <a:gd name="connsiteY5" fmla="*/ 261087 h 838202"/>
              <a:gd name="connsiteX6" fmla="*/ 2532224 w 2532224"/>
              <a:gd name="connsiteY6" fmla="*/ 838202 h 838202"/>
              <a:gd name="connsiteX7" fmla="*/ 0 w 2532224"/>
              <a:gd name="connsiteY7" fmla="*/ 838202 h 8382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532224" h="838202">
                <a:moveTo>
                  <a:pt x="0" y="838202"/>
                </a:moveTo>
                <a:lnTo>
                  <a:pt x="0" y="0"/>
                </a:lnTo>
                <a:lnTo>
                  <a:pt x="3" y="1"/>
                </a:lnTo>
                <a:lnTo>
                  <a:pt x="3" y="838201"/>
                </a:lnTo>
                <a:lnTo>
                  <a:pt x="1450114" y="838201"/>
                </a:lnTo>
                <a:lnTo>
                  <a:pt x="788750" y="261087"/>
                </a:lnTo>
                <a:lnTo>
                  <a:pt x="2532224" y="838202"/>
                </a:lnTo>
                <a:lnTo>
                  <a:pt x="0" y="838202"/>
                </a:lnTo>
                <a:close/>
              </a:path>
            </a:pathLst>
          </a:custGeom>
          <a:solidFill>
            <a:srgbClr val="00B0F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35" name="フリーフォーム: 図形 34">
            <a:extLst>
              <a:ext uri="{FF2B5EF4-FFF2-40B4-BE49-F238E27FC236}">
                <a16:creationId xmlns:a16="http://schemas.microsoft.com/office/drawing/2014/main" id="{762F2183-486D-2618-A529-D8F206CFEB45}"/>
              </a:ext>
            </a:extLst>
          </p:cNvPr>
          <p:cNvSpPr/>
          <p:nvPr/>
        </p:nvSpPr>
        <p:spPr>
          <a:xfrm rot="5400000">
            <a:off x="526874" y="21073"/>
            <a:ext cx="788747" cy="688270"/>
          </a:xfrm>
          <a:custGeom>
            <a:avLst/>
            <a:gdLst>
              <a:gd name="connsiteX0" fmla="*/ 0 w 788747"/>
              <a:gd name="connsiteY0" fmla="*/ 427184 h 688270"/>
              <a:gd name="connsiteX1" fmla="*/ 0 w 788747"/>
              <a:gd name="connsiteY1" fmla="*/ 0 h 688270"/>
              <a:gd name="connsiteX2" fmla="*/ 788747 w 788747"/>
              <a:gd name="connsiteY2" fmla="*/ 688270 h 688270"/>
              <a:gd name="connsiteX3" fmla="*/ 0 w 788747"/>
              <a:gd name="connsiteY3" fmla="*/ 427184 h 688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8747" h="688270">
                <a:moveTo>
                  <a:pt x="0" y="427184"/>
                </a:moveTo>
                <a:lnTo>
                  <a:pt x="0" y="0"/>
                </a:lnTo>
                <a:lnTo>
                  <a:pt x="788747" y="688270"/>
                </a:lnTo>
                <a:lnTo>
                  <a:pt x="0" y="427184"/>
                </a:lnTo>
                <a:close/>
              </a:path>
            </a:pathLst>
          </a:custGeom>
          <a:solidFill>
            <a:srgbClr val="00B0F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38" name="フリーフォーム: 図形 37">
            <a:extLst>
              <a:ext uri="{FF2B5EF4-FFF2-40B4-BE49-F238E27FC236}">
                <a16:creationId xmlns:a16="http://schemas.microsoft.com/office/drawing/2014/main" id="{32BE5CA9-1B46-483F-F564-A422770719A0}"/>
              </a:ext>
            </a:extLst>
          </p:cNvPr>
          <p:cNvSpPr/>
          <p:nvPr/>
        </p:nvSpPr>
        <p:spPr>
          <a:xfrm rot="5400000">
            <a:off x="-1647957" y="1133343"/>
            <a:ext cx="4117948" cy="838202"/>
          </a:xfrm>
          <a:custGeom>
            <a:avLst/>
            <a:gdLst>
              <a:gd name="connsiteX0" fmla="*/ 0 w 2532224"/>
              <a:gd name="connsiteY0" fmla="*/ 838202 h 838202"/>
              <a:gd name="connsiteX1" fmla="*/ 0 w 2532224"/>
              <a:gd name="connsiteY1" fmla="*/ 0 h 838202"/>
              <a:gd name="connsiteX2" fmla="*/ 3 w 2532224"/>
              <a:gd name="connsiteY2" fmla="*/ 1 h 838202"/>
              <a:gd name="connsiteX3" fmla="*/ 3 w 2532224"/>
              <a:gd name="connsiteY3" fmla="*/ 838201 h 838202"/>
              <a:gd name="connsiteX4" fmla="*/ 1450114 w 2532224"/>
              <a:gd name="connsiteY4" fmla="*/ 838201 h 838202"/>
              <a:gd name="connsiteX5" fmla="*/ 788750 w 2532224"/>
              <a:gd name="connsiteY5" fmla="*/ 261087 h 838202"/>
              <a:gd name="connsiteX6" fmla="*/ 2532224 w 2532224"/>
              <a:gd name="connsiteY6" fmla="*/ 838202 h 838202"/>
              <a:gd name="connsiteX7" fmla="*/ 0 w 2532224"/>
              <a:gd name="connsiteY7" fmla="*/ 838202 h 8382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532224" h="838202">
                <a:moveTo>
                  <a:pt x="0" y="838202"/>
                </a:moveTo>
                <a:lnTo>
                  <a:pt x="0" y="0"/>
                </a:lnTo>
                <a:lnTo>
                  <a:pt x="3" y="1"/>
                </a:lnTo>
                <a:lnTo>
                  <a:pt x="3" y="838201"/>
                </a:lnTo>
                <a:lnTo>
                  <a:pt x="1450114" y="838201"/>
                </a:lnTo>
                <a:lnTo>
                  <a:pt x="788750" y="261087"/>
                </a:lnTo>
                <a:lnTo>
                  <a:pt x="2532224" y="838202"/>
                </a:lnTo>
                <a:lnTo>
                  <a:pt x="0" y="838202"/>
                </a:lnTo>
                <a:close/>
              </a:path>
            </a:pathLst>
          </a:custGeom>
          <a:solidFill>
            <a:srgbClr val="00B0F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44318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HGPｺﾞｼｯｸE" panose="020B0900000000000000" pitchFamily="50" charset="-128"/>
          <a:ea typeface="HGPｺﾞｼｯｸE" panose="020B0900000000000000" pitchFamily="50" charset="-128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HGPｺﾞｼｯｸE" panose="020B0900000000000000" pitchFamily="50" charset="-128"/>
          <a:ea typeface="HGPｺﾞｼｯｸE" panose="020B0900000000000000" pitchFamily="50" charset="-128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HGPｺﾞｼｯｸE" panose="020B0900000000000000" pitchFamily="50" charset="-128"/>
          <a:ea typeface="HGPｺﾞｼｯｸE" panose="020B0900000000000000" pitchFamily="50" charset="-128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HGPｺﾞｼｯｸE" panose="020B0900000000000000" pitchFamily="50" charset="-128"/>
          <a:ea typeface="HGPｺﾞｼｯｸE" panose="020B0900000000000000" pitchFamily="50" charset="-128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HGPｺﾞｼｯｸE" panose="020B0900000000000000" pitchFamily="50" charset="-128"/>
          <a:ea typeface="HGPｺﾞｼｯｸE" panose="020B0900000000000000" pitchFamily="50" charset="-128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HGPｺﾞｼｯｸE" panose="020B0900000000000000" pitchFamily="50" charset="-128"/>
          <a:ea typeface="HGPｺﾞｼｯｸE" panose="020B0900000000000000" pitchFamily="50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3ADFCCB-F8C3-89A2-F4EA-99D0473311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306801"/>
          </a:xfrm>
        </p:spPr>
        <p:txBody>
          <a:bodyPr/>
          <a:lstStyle/>
          <a:p>
            <a:r>
              <a:rPr kumimoji="1" lang="ja-JP" altLang="en-US" dirty="0"/>
              <a:t>おみくじアプリ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50207CC-7018-7006-2725-C4663F65F3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46255" y="3602038"/>
            <a:ext cx="1699490" cy="388071"/>
          </a:xfrm>
        </p:spPr>
        <p:txBody>
          <a:bodyPr>
            <a:normAutofit lnSpcReduction="10000"/>
          </a:bodyPr>
          <a:lstStyle/>
          <a:p>
            <a:r>
              <a:rPr kumimoji="1" lang="ja-JP" altLang="en-US" dirty="0"/>
              <a:t>森下侑哉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22217710-EF74-B2EC-64AE-4AE53E6934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158" y="3990109"/>
            <a:ext cx="1847684" cy="1847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3308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E8C1121-55CF-0D20-92E1-A346C8C4D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簡単なおみくじの概要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BE6D492-48BA-DFB2-F5CB-72C1F3AB6F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おみくじボタン</a:t>
            </a:r>
            <a:br>
              <a:rPr kumimoji="1" lang="en-US" altLang="ja-JP" dirty="0"/>
            </a:br>
            <a:r>
              <a:rPr lang="ja-JP" altLang="en-US" dirty="0"/>
              <a:t>　</a:t>
            </a:r>
            <a:r>
              <a:rPr kumimoji="1" lang="ja-JP" altLang="en-US" dirty="0"/>
              <a:t>「大吉」「吉」</a:t>
            </a:r>
            <a:r>
              <a:rPr kumimoji="1" lang="en-US" altLang="ja-JP" dirty="0"/>
              <a:t>…</a:t>
            </a:r>
            <a:r>
              <a:rPr kumimoji="1" lang="ja-JP" altLang="en-US" dirty="0"/>
              <a:t>「大凶」までがランダムで選ばれ表示</a:t>
            </a:r>
            <a:br>
              <a:rPr lang="en-US" altLang="ja-JP" dirty="0"/>
            </a:br>
            <a:r>
              <a:rPr lang="ja-JP" altLang="en-US" dirty="0"/>
              <a:t>　</a:t>
            </a:r>
            <a:r>
              <a:rPr lang="en-US" altLang="ja-JP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Random.nextInt</a:t>
            </a:r>
            <a:r>
              <a:rPr lang="ja-JP" altLang="en-US" dirty="0"/>
              <a:t>を使う</a:t>
            </a:r>
            <a:br>
              <a:rPr kumimoji="1" lang="en-US" altLang="ja-JP" dirty="0"/>
            </a:br>
            <a:br>
              <a:rPr kumimoji="1" lang="en-US" altLang="ja-JP" dirty="0"/>
            </a:br>
            <a:endParaRPr kumimoji="1" lang="en-US" altLang="ja-JP" dirty="0"/>
          </a:p>
          <a:p>
            <a:r>
              <a:rPr lang="ja-JP" altLang="en-US" dirty="0"/>
              <a:t>前回の結果表示ボタン</a:t>
            </a:r>
            <a:br>
              <a:rPr lang="en-US" altLang="ja-JP" dirty="0"/>
            </a:br>
            <a:r>
              <a:rPr lang="ja-JP" altLang="en-US" dirty="0"/>
              <a:t>　</a:t>
            </a:r>
            <a:r>
              <a:rPr lang="en-US" altLang="ja-JP" dirty="0"/>
              <a:t>1</a:t>
            </a:r>
            <a:r>
              <a:rPr lang="ja-JP" altLang="en-US" dirty="0"/>
              <a:t>つ前のおみくじ結果を表示</a:t>
            </a:r>
            <a:br>
              <a:rPr lang="en-US" altLang="ja-JP" dirty="0"/>
            </a:br>
            <a:r>
              <a:rPr lang="ja-JP" altLang="en-US" dirty="0"/>
              <a:t>　</a:t>
            </a:r>
            <a:r>
              <a:rPr lang="en-US" altLang="ja-JP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SharedPreferences</a:t>
            </a:r>
            <a:r>
              <a:rPr lang="ja-JP" altLang="en-US" dirty="0"/>
              <a:t>を使った結果を保存する機能</a:t>
            </a:r>
            <a:br>
              <a:rPr lang="en-US" altLang="ja-JP" dirty="0"/>
            </a:br>
            <a:r>
              <a:rPr lang="ja-JP" altLang="en-US" dirty="0"/>
              <a:t>　⇒アプリを再起動しても保存される</a:t>
            </a:r>
            <a:endParaRPr kumimoji="1" lang="ja-JP" altLang="en-US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B3B87933-0AAA-A0C1-DE11-F60E1BE825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1363" y="1027906"/>
            <a:ext cx="2876939" cy="2157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7043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CF1B713-CBBA-2A19-3535-4E2F00ED6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コードの区分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CAA0A29-EE9C-95AB-D3E0-74A69BB240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88301"/>
            <a:ext cx="7615335" cy="1738670"/>
          </a:xfrm>
        </p:spPr>
        <p:txBody>
          <a:bodyPr>
            <a:normAutofit/>
          </a:bodyPr>
          <a:lstStyle/>
          <a:p>
            <a:r>
              <a:rPr lang="en-US" altLang="ja-JP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Activity</a:t>
            </a:r>
            <a:r>
              <a:rPr lang="en-US" altLang="ja-JP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(Main</a:t>
            </a:r>
            <a:r>
              <a:rPr lang="ja-JP" altLang="en-US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ja-JP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Activity</a:t>
            </a:r>
            <a:r>
              <a:rPr lang="ja-JP" altLang="en-US" sz="2400" dirty="0">
                <a:cs typeface="Cascadia Code" panose="020B0609020000020004" pitchFamily="49" charset="0"/>
              </a:rPr>
              <a:t>など</a:t>
            </a:r>
            <a:r>
              <a:rPr lang="en-US" altLang="ja-JP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altLang="ja-JP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altLang="ja-JP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ja-JP" altLang="en-US" sz="2400" dirty="0">
                <a:cs typeface="Cascadia Code" panose="020B0609020000020004" pitchFamily="49" charset="0"/>
              </a:rPr>
              <a:t>コードのスタート地点</a:t>
            </a:r>
            <a:br>
              <a:rPr lang="en-US" altLang="ja-JP" sz="2400" dirty="0">
                <a:cs typeface="Cascadia Code" panose="020B0609020000020004" pitchFamily="49" charset="0"/>
              </a:rPr>
            </a:br>
            <a:br>
              <a:rPr lang="en-US" altLang="ja-JP" sz="2400" dirty="0">
                <a:cs typeface="Cascadia Code" panose="020B0609020000020004" pitchFamily="49" charset="0"/>
              </a:rPr>
            </a:br>
            <a:r>
              <a:rPr lang="en-US" altLang="ja-JP" sz="2400" dirty="0">
                <a:cs typeface="Cascadia Code" panose="020B0609020000020004" pitchFamily="49" charset="0"/>
              </a:rPr>
              <a:t>  </a:t>
            </a:r>
            <a:r>
              <a:rPr lang="ja-JP" altLang="en-US" sz="2400" dirty="0">
                <a:cs typeface="Cascadia Code" panose="020B0609020000020004" pitchFamily="49" charset="0"/>
              </a:rPr>
              <a:t>初期化・画面の開始</a:t>
            </a:r>
            <a:endParaRPr kumimoji="1" lang="ja-JP" alt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4" name="コンテンツ プレースホルダー 2">
            <a:extLst>
              <a:ext uri="{FF2B5EF4-FFF2-40B4-BE49-F238E27FC236}">
                <a16:creationId xmlns:a16="http://schemas.microsoft.com/office/drawing/2014/main" id="{DEE0A102-0212-3CA3-C043-B2C7F37EA252}"/>
              </a:ext>
            </a:extLst>
          </p:cNvPr>
          <p:cNvSpPr txBox="1">
            <a:spLocks/>
          </p:cNvSpPr>
          <p:nvPr/>
        </p:nvSpPr>
        <p:spPr>
          <a:xfrm>
            <a:off x="838199" y="3755647"/>
            <a:ext cx="7615335" cy="21184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HGPｺﾞｼｯｸE" panose="020B0900000000000000" pitchFamily="50" charset="-128"/>
                <a:ea typeface="HGPｺﾞｼｯｸE" panose="020B0900000000000000" pitchFamily="50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HGPｺﾞｼｯｸE" panose="020B0900000000000000" pitchFamily="50" charset="-128"/>
                <a:ea typeface="HGPｺﾞｼｯｸE" panose="020B0900000000000000" pitchFamily="50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HGPｺﾞｼｯｸE" panose="020B0900000000000000" pitchFamily="50" charset="-128"/>
                <a:ea typeface="HGPｺﾞｼｯｸE" panose="020B0900000000000000" pitchFamily="50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HGPｺﾞｼｯｸE" panose="020B0900000000000000" pitchFamily="50" charset="-128"/>
                <a:ea typeface="HGPｺﾞｼｯｸE" panose="020B0900000000000000" pitchFamily="50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HGPｺﾞｼｯｸE" panose="020B0900000000000000" pitchFamily="50" charset="-128"/>
                <a:ea typeface="HGPｺﾞｼｯｸE" panose="020B0900000000000000" pitchFamily="50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dirty="0">
                <a:latin typeface="Cascadia Code" panose="020B0609020000020004" pitchFamily="49" charset="0"/>
                <a:cs typeface="Cascadia Code" panose="020B0609020000020004" pitchFamily="49" charset="0"/>
              </a:rPr>
              <a:t>Composable</a:t>
            </a:r>
            <a:r>
              <a:rPr lang="en-US" altLang="ja-JP" sz="2400" dirty="0">
                <a:latin typeface="Cascadia Code" panose="020B0609020000020004" pitchFamily="49" charset="0"/>
                <a:cs typeface="Cascadia Code" panose="020B0609020000020004" pitchFamily="49" charset="0"/>
              </a:rPr>
              <a:t>(Greeting</a:t>
            </a:r>
            <a:r>
              <a:rPr lang="ja-JP" altLang="en-US" sz="2400" dirty="0">
                <a:latin typeface="Cascadia Code" panose="020B0609020000020004" pitchFamily="49" charset="0"/>
                <a:cs typeface="Cascadia Code" panose="020B0609020000020004" pitchFamily="49" charset="0"/>
              </a:rPr>
              <a:t>など</a:t>
            </a:r>
            <a:r>
              <a:rPr lang="en-US" altLang="ja-JP" sz="2400" dirty="0"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altLang="ja-JP" sz="2400" dirty="0"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altLang="ja-JP" sz="2400" dirty="0"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ja-JP" altLang="en-US" sz="2400" dirty="0">
                <a:latin typeface="Cascadia Code" panose="020B0609020000020004" pitchFamily="49" charset="0"/>
                <a:cs typeface="Cascadia Code" panose="020B0609020000020004" pitchFamily="49" charset="0"/>
              </a:rPr>
              <a:t>コードの根幹部分</a:t>
            </a:r>
            <a:br>
              <a:rPr lang="en-US" altLang="ja-JP" sz="2400" dirty="0">
                <a:latin typeface="Cascadia Code" panose="020B0609020000020004" pitchFamily="49" charset="0"/>
                <a:cs typeface="Cascadia Code" panose="020B0609020000020004" pitchFamily="49" charset="0"/>
              </a:rPr>
            </a:br>
            <a:br>
              <a:rPr lang="en-US" altLang="ja-JP" dirty="0"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altLang="ja-JP" dirty="0"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ja-JP" altLang="en-US" sz="2400" dirty="0">
                <a:cs typeface="Cascadia Code" panose="020B0609020000020004" pitchFamily="49" charset="0"/>
              </a:rPr>
              <a:t>画面の表示</a:t>
            </a:r>
            <a:br>
              <a:rPr lang="en-US" altLang="ja-JP" sz="2400" dirty="0">
                <a:cs typeface="Cascadia Code" panose="020B0609020000020004" pitchFamily="49" charset="0"/>
              </a:rPr>
            </a:br>
            <a:r>
              <a:rPr lang="en-US" altLang="ja-JP" sz="2400" dirty="0">
                <a:cs typeface="Cascadia Code" panose="020B0609020000020004" pitchFamily="49" charset="0"/>
              </a:rPr>
              <a:t>  </a:t>
            </a:r>
            <a:r>
              <a:rPr lang="ja-JP" altLang="en-US" sz="2400" dirty="0">
                <a:cs typeface="Cascadia Code" panose="020B0609020000020004" pitchFamily="49" charset="0"/>
              </a:rPr>
              <a:t>ユーザーからの操作を受け取る⇒画面の変更</a:t>
            </a:r>
            <a:endParaRPr lang="ja-JP" alt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3050601-8746-9BAD-9B5C-0871C7698369}"/>
              </a:ext>
            </a:extLst>
          </p:cNvPr>
          <p:cNvSpPr txBox="1"/>
          <p:nvPr/>
        </p:nvSpPr>
        <p:spPr>
          <a:xfrm>
            <a:off x="979714" y="1851331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solidFill>
                  <a:srgbClr val="FF0000"/>
                </a:solidFill>
                <a:latin typeface="HGPｺﾞｼｯｸE" panose="020B0900000000000000" pitchFamily="50" charset="-128"/>
                <a:ea typeface="HGPｺﾞｼｯｸE" panose="020B0900000000000000" pitchFamily="50" charset="-128"/>
              </a:rPr>
              <a:t>＿＿＿＿＿＿＿＿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AA51E9A9-EFCA-4270-2FE9-0BD2AADB3B29}"/>
              </a:ext>
            </a:extLst>
          </p:cNvPr>
          <p:cNvSpPr txBox="1"/>
          <p:nvPr/>
        </p:nvSpPr>
        <p:spPr>
          <a:xfrm>
            <a:off x="1066800" y="3792516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solidFill>
                  <a:srgbClr val="FF0000"/>
                </a:solidFill>
                <a:latin typeface="HGPｺﾞｼｯｸE" panose="020B0900000000000000" pitchFamily="50" charset="-128"/>
                <a:ea typeface="HGPｺﾞｼｯｸE" panose="020B0900000000000000" pitchFamily="50" charset="-128"/>
              </a:rPr>
              <a:t>＿＿＿＿＿＿＿＿＿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38E4FFAE-44A3-0FD6-570A-B7E50FC6C3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8327" y="1027906"/>
            <a:ext cx="1993959" cy="2830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4175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33AE2-054D-7501-ED69-5E43CAB2B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A9BFD82-AF0C-98AF-C41E-142C80FF6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コードの区分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4441A97-D9B9-3D02-5898-E313514C56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88301"/>
            <a:ext cx="7615335" cy="1859968"/>
          </a:xfrm>
        </p:spPr>
        <p:txBody>
          <a:bodyPr/>
          <a:lstStyle/>
          <a:p>
            <a:r>
              <a:rPr kumimoji="1" lang="en-US" altLang="ja-JP" dirty="0">
                <a:latin typeface="Cascadia Code" panose="020B0609020000020004" pitchFamily="49" charset="0"/>
                <a:cs typeface="Cascadia Code" panose="020B0609020000020004" pitchFamily="49" charset="0"/>
              </a:rPr>
              <a:t>Preview</a:t>
            </a:r>
            <a:r>
              <a:rPr kumimoji="1" lang="ja-JP" altLang="en-US" sz="2400" dirty="0">
                <a:latin typeface="Cascadia Code" panose="020B0609020000020004" pitchFamily="49" charset="0"/>
                <a:cs typeface="Cascadia Code" panose="020B0609020000020004" pitchFamily="49" charset="0"/>
              </a:rPr>
              <a:t>（</a:t>
            </a:r>
            <a:r>
              <a:rPr kumimoji="1" lang="en-US" altLang="ja-JP" sz="2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GreetingPreview</a:t>
            </a:r>
            <a:r>
              <a:rPr kumimoji="1" lang="ja-JP" altLang="en-US" sz="2400" dirty="0">
                <a:latin typeface="Cascadia Code" panose="020B0609020000020004" pitchFamily="49" charset="0"/>
                <a:cs typeface="Cascadia Code" panose="020B0609020000020004" pitchFamily="49" charset="0"/>
              </a:rPr>
              <a:t>）</a:t>
            </a:r>
            <a:br>
              <a:rPr lang="en-US" altLang="ja-JP" sz="2400" dirty="0"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altLang="ja-JP" sz="2400" dirty="0"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ja-JP" altLang="en-US" sz="2400" dirty="0">
                <a:cs typeface="Cascadia Code" panose="020B0609020000020004" pitchFamily="49" charset="0"/>
              </a:rPr>
              <a:t>アプリの一部ではない。開発者用機能</a:t>
            </a:r>
            <a:br>
              <a:rPr lang="en-US" altLang="ja-JP" sz="2400" dirty="0">
                <a:cs typeface="Cascadia Code" panose="020B0609020000020004" pitchFamily="49" charset="0"/>
              </a:rPr>
            </a:br>
            <a:br>
              <a:rPr lang="en-US" altLang="ja-JP" sz="2400" dirty="0">
                <a:cs typeface="Cascadia Code" panose="020B0609020000020004" pitchFamily="49" charset="0"/>
              </a:rPr>
            </a:br>
            <a:r>
              <a:rPr lang="en-US" altLang="ja-JP" sz="2400" dirty="0">
                <a:cs typeface="Cascadia Code" panose="020B0609020000020004" pitchFamily="49" charset="0"/>
              </a:rPr>
              <a:t>  </a:t>
            </a:r>
            <a:r>
              <a:rPr lang="ja-JP" altLang="en-US" sz="2400" dirty="0">
                <a:cs typeface="Cascadia Code" panose="020B0609020000020004" pitchFamily="49" charset="0"/>
              </a:rPr>
              <a:t>見た目のチェック用</a:t>
            </a:r>
            <a:br>
              <a:rPr lang="en-US" altLang="ja-JP" sz="2400" dirty="0">
                <a:cs typeface="Cascadia Code" panose="020B0609020000020004" pitchFamily="49" charset="0"/>
              </a:rPr>
            </a:br>
            <a:r>
              <a:rPr lang="en-US" altLang="ja-JP" sz="2400" dirty="0">
                <a:cs typeface="Cascadia Code" panose="020B0609020000020004" pitchFamily="49" charset="0"/>
              </a:rPr>
              <a:t>  </a:t>
            </a:r>
            <a:r>
              <a:rPr lang="ja-JP" altLang="en-US" sz="2400" dirty="0">
                <a:cs typeface="Cascadia Code" panose="020B0609020000020004" pitchFamily="49" charset="0"/>
              </a:rPr>
              <a:t>長いロードを待たずに即実行可能</a:t>
            </a:r>
            <a:endParaRPr kumimoji="1" lang="en-US" altLang="ja-JP" sz="24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4" name="コンテンツ プレースホルダー 2">
            <a:extLst>
              <a:ext uri="{FF2B5EF4-FFF2-40B4-BE49-F238E27FC236}">
                <a16:creationId xmlns:a16="http://schemas.microsoft.com/office/drawing/2014/main" id="{1F84C9A3-E8A5-6E74-19BC-37F9B83050B9}"/>
              </a:ext>
            </a:extLst>
          </p:cNvPr>
          <p:cNvSpPr txBox="1">
            <a:spLocks/>
          </p:cNvSpPr>
          <p:nvPr/>
        </p:nvSpPr>
        <p:spPr>
          <a:xfrm>
            <a:off x="838200" y="3904937"/>
            <a:ext cx="7615335" cy="23185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HGPｺﾞｼｯｸE" panose="020B0900000000000000" pitchFamily="50" charset="-128"/>
                <a:ea typeface="HGPｺﾞｼｯｸE" panose="020B0900000000000000" pitchFamily="50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HGPｺﾞｼｯｸE" panose="020B0900000000000000" pitchFamily="50" charset="-128"/>
                <a:ea typeface="HGPｺﾞｼｯｸE" panose="020B0900000000000000" pitchFamily="50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HGPｺﾞｼｯｸE" panose="020B0900000000000000" pitchFamily="50" charset="-128"/>
                <a:ea typeface="HGPｺﾞｼｯｸE" panose="020B0900000000000000" pitchFamily="50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HGPｺﾞｼｯｸE" panose="020B0900000000000000" pitchFamily="50" charset="-128"/>
                <a:ea typeface="HGPｺﾞｼｯｸE" panose="020B0900000000000000" pitchFamily="50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HGPｺﾞｼｯｸE" panose="020B0900000000000000" pitchFamily="50" charset="-128"/>
                <a:ea typeface="HGPｺﾞｼｯｸE" panose="020B0900000000000000" pitchFamily="50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dirty="0">
                <a:latin typeface="Cascadia Code" panose="020B0609020000020004" pitchFamily="49" charset="0"/>
                <a:cs typeface="Cascadia Code" panose="020B0609020000020004" pitchFamily="49" charset="0"/>
              </a:rPr>
              <a:t>Theme</a:t>
            </a:r>
            <a:br>
              <a:rPr lang="en-US" altLang="ja-JP" sz="2400" dirty="0"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altLang="ja-JP" sz="2400" dirty="0">
                <a:latin typeface="Cascadia Code" panose="020B0609020000020004" pitchFamily="49" charset="0"/>
                <a:cs typeface="Cascadia Code" panose="020B0609020000020004" pitchFamily="49" charset="0"/>
              </a:rPr>
              <a:t> UI</a:t>
            </a:r>
            <a:r>
              <a:rPr lang="ja-JP" altLang="en-US" sz="2400" dirty="0">
                <a:latin typeface="Cascadia Code" panose="020B0609020000020004" pitchFamily="49" charset="0"/>
                <a:cs typeface="Cascadia Code" panose="020B0609020000020004" pitchFamily="49" charset="0"/>
              </a:rPr>
              <a:t>の根幹を設定</a:t>
            </a:r>
            <a:br>
              <a:rPr lang="en-US" altLang="ja-JP" sz="2400" dirty="0">
                <a:latin typeface="Cascadia Code" panose="020B0609020000020004" pitchFamily="49" charset="0"/>
                <a:cs typeface="Cascadia Code" panose="020B0609020000020004" pitchFamily="49" charset="0"/>
              </a:rPr>
            </a:br>
            <a:br>
              <a:rPr lang="en-US" altLang="ja-JP" sz="2400" dirty="0"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altLang="ja-JP" sz="2400" dirty="0"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ja-JP" altLang="en-US" sz="2400" dirty="0">
                <a:latin typeface="Cascadia Code" panose="020B0609020000020004" pitchFamily="49" charset="0"/>
                <a:cs typeface="Cascadia Code" panose="020B0609020000020004" pitchFamily="49" charset="0"/>
              </a:rPr>
              <a:t>土台となるデザインを設定</a:t>
            </a:r>
            <a:br>
              <a:rPr lang="en-US" altLang="ja-JP" sz="2400" dirty="0"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altLang="ja-JP" sz="2400" dirty="0"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ja-JP" altLang="en-US" sz="2400" dirty="0">
                <a:latin typeface="Cascadia Code" panose="020B0609020000020004" pitchFamily="49" charset="0"/>
                <a:cs typeface="Cascadia Code" panose="020B0609020000020004" pitchFamily="49" charset="0"/>
              </a:rPr>
              <a:t>デザインの変更がスムーズに</a:t>
            </a:r>
            <a:endParaRPr lang="ja-JP" alt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9249A65-C19E-A80B-DECE-099181500010}"/>
              </a:ext>
            </a:extLst>
          </p:cNvPr>
          <p:cNvSpPr txBox="1"/>
          <p:nvPr/>
        </p:nvSpPr>
        <p:spPr>
          <a:xfrm>
            <a:off x="1082350" y="1879323"/>
            <a:ext cx="16209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600" dirty="0">
                <a:solidFill>
                  <a:srgbClr val="FF0000"/>
                </a:solidFill>
                <a:latin typeface="HGPｺﾞｼｯｸE" panose="020B0900000000000000" pitchFamily="50" charset="-128"/>
                <a:ea typeface="HGPｺﾞｼｯｸE" panose="020B0900000000000000" pitchFamily="50" charset="-128"/>
              </a:rPr>
              <a:t>＿＿＿＿＿＿＿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74644D2-A0E2-BF6E-8911-5DC35D663F31}"/>
              </a:ext>
            </a:extLst>
          </p:cNvPr>
          <p:cNvSpPr txBox="1"/>
          <p:nvPr/>
        </p:nvSpPr>
        <p:spPr>
          <a:xfrm>
            <a:off x="1082350" y="3996918"/>
            <a:ext cx="1210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600" dirty="0">
                <a:solidFill>
                  <a:srgbClr val="FF0000"/>
                </a:solidFill>
                <a:latin typeface="HGPｺﾞｼｯｸE" panose="020B0900000000000000" pitchFamily="50" charset="-128"/>
                <a:ea typeface="HGPｺﾞｼｯｸE" panose="020B0900000000000000" pitchFamily="50" charset="-128"/>
              </a:rPr>
              <a:t>＿＿＿＿＿</a:t>
            </a:r>
          </a:p>
        </p:txBody>
      </p:sp>
      <p:pic>
        <p:nvPicPr>
          <p:cNvPr id="3074" name="Picture 2" descr="Tablet androidストックベクター、ロイヤリティフリーTablet androidイラスト | DepositPhotos">
            <a:extLst>
              <a:ext uri="{FF2B5EF4-FFF2-40B4-BE49-F238E27FC236}">
                <a16:creationId xmlns:a16="http://schemas.microsoft.com/office/drawing/2014/main" id="{D11AE08C-29EB-B7AE-4327-66A3129531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57184" y="1027906"/>
            <a:ext cx="2292512" cy="1525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3433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F50237B-8992-97C6-67D1-8BC4D9534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画面の設計（</a:t>
            </a:r>
            <a:r>
              <a:rPr lang="en-US" altLang="ja-JP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UI</a:t>
            </a:r>
            <a:r>
              <a:rPr lang="ja-JP" altLang="en-US" dirty="0"/>
              <a:t>）</a:t>
            </a:r>
            <a:endParaRPr kumimoji="1" lang="ja-JP" altLang="en-US" dirty="0"/>
          </a:p>
        </p:txBody>
      </p:sp>
      <p:pic>
        <p:nvPicPr>
          <p:cNvPr id="10" name="図 9" descr="テキスト">
            <a:extLst>
              <a:ext uri="{FF2B5EF4-FFF2-40B4-BE49-F238E27FC236}">
                <a16:creationId xmlns:a16="http://schemas.microsoft.com/office/drawing/2014/main" id="{FBB5D8CB-9A8A-7E18-9F37-3F029CE9C8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0963" y="1388536"/>
            <a:ext cx="5887617" cy="2535091"/>
          </a:xfrm>
          <a:prstGeom prst="rect">
            <a:avLst/>
          </a:prstGeom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D698A68C-00EA-6C33-8535-B6BDE672537E}"/>
              </a:ext>
            </a:extLst>
          </p:cNvPr>
          <p:cNvSpPr txBox="1"/>
          <p:nvPr/>
        </p:nvSpPr>
        <p:spPr>
          <a:xfrm>
            <a:off x="838199" y="2228671"/>
            <a:ext cx="500276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・</a:t>
            </a:r>
            <a:r>
              <a:rPr kumimoji="1" lang="en-US" altLang="ja-JP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setContent</a:t>
            </a:r>
            <a:br>
              <a:rPr kumimoji="1" lang="en-US" altLang="ja-JP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kumimoji="1" lang="ja-JP" altLang="en-US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　</a:t>
            </a:r>
            <a:r>
              <a:rPr kumimoji="1" lang="en-US" altLang="ja-JP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Activity</a:t>
            </a:r>
            <a:r>
              <a:rPr lang="ja-JP" altLang="en-US" sz="2000" dirty="0">
                <a:latin typeface="HGPｺﾞｼｯｸE" panose="020B0900000000000000" pitchFamily="50" charset="-128"/>
                <a:ea typeface="HGPｺﾞｼｯｸE" panose="020B0900000000000000" pitchFamily="50" charset="-128"/>
                <a:cs typeface="Cascadia Code" panose="020B0609020000020004" pitchFamily="49" charset="0"/>
              </a:rPr>
              <a:t>を</a:t>
            </a:r>
            <a:r>
              <a:rPr kumimoji="1" lang="en-US" altLang="ja-JP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Compose</a:t>
            </a:r>
            <a:r>
              <a:rPr kumimoji="1" lang="ja-JP" altLang="en-US" sz="2000" dirty="0">
                <a:latin typeface="HGPｺﾞｼｯｸE" panose="020B0900000000000000" pitchFamily="50" charset="-128"/>
                <a:ea typeface="HGPｺﾞｼｯｸE" panose="020B0900000000000000" pitchFamily="50" charset="-128"/>
                <a:cs typeface="Cascadia Code" panose="020B0609020000020004" pitchFamily="49" charset="0"/>
              </a:rPr>
              <a:t>で描画する宣言</a:t>
            </a:r>
            <a:br>
              <a:rPr lang="en-US" altLang="ja-JP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ja-JP" altLang="en-US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　</a:t>
            </a:r>
            <a:r>
              <a:rPr lang="en-US" altLang="ja-JP" sz="2000" dirty="0">
                <a:latin typeface="HGPｺﾞｼｯｸE" panose="020B0900000000000000" pitchFamily="50" charset="-128"/>
                <a:ea typeface="HGPｺﾞｼｯｸE" panose="020B0900000000000000" pitchFamily="50" charset="-128"/>
                <a:cs typeface="Cascadia Code" panose="020B0609020000020004" pitchFamily="49" charset="0"/>
              </a:rPr>
              <a:t>1</a:t>
            </a:r>
            <a:r>
              <a:rPr lang="ja-JP" altLang="en-US" sz="2000" dirty="0">
                <a:latin typeface="HGPｺﾞｼｯｸE" panose="020B0900000000000000" pitchFamily="50" charset="-128"/>
                <a:ea typeface="HGPｺﾞｼｯｸE" panose="020B0900000000000000" pitchFamily="50" charset="-128"/>
                <a:cs typeface="Cascadia Code" panose="020B0609020000020004" pitchFamily="49" charset="0"/>
              </a:rPr>
              <a:t>つの</a:t>
            </a:r>
            <a:r>
              <a:rPr lang="en-US" altLang="ja-JP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Activity</a:t>
            </a:r>
            <a:r>
              <a:rPr lang="ja-JP" altLang="en-US" sz="2000" dirty="0">
                <a:latin typeface="HGPｺﾞｼｯｸE" panose="020B0900000000000000" pitchFamily="50" charset="-128"/>
                <a:ea typeface="HGPｺﾞｼｯｸE" panose="020B0900000000000000" pitchFamily="50" charset="-128"/>
                <a:cs typeface="Cascadia Code" panose="020B0609020000020004" pitchFamily="49" charset="0"/>
              </a:rPr>
              <a:t>に基本１回</a:t>
            </a:r>
            <a:endParaRPr kumimoji="1" lang="ja-JP" altLang="en-US" sz="2400" dirty="0">
              <a:latin typeface="Cascadia Code" panose="020B0609020000020004" pitchFamily="49" charset="0"/>
              <a:ea typeface="HGPｺﾞｼｯｸE" panose="020B0900000000000000" pitchFamily="50" charset="-128"/>
              <a:cs typeface="Cascadia Code" panose="020B0609020000020004" pitchFamily="49" charset="0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B49BA29C-7071-9DDB-D9A7-13A9CB04142C}"/>
              </a:ext>
            </a:extLst>
          </p:cNvPr>
          <p:cNvSpPr txBox="1"/>
          <p:nvPr/>
        </p:nvSpPr>
        <p:spPr>
          <a:xfrm>
            <a:off x="838198" y="3446573"/>
            <a:ext cx="500276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・</a:t>
            </a:r>
            <a:r>
              <a:rPr kumimoji="1" lang="en-US" altLang="ja-JP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OmikujiTheme</a:t>
            </a:r>
            <a:br>
              <a:rPr kumimoji="1" lang="en-US" altLang="ja-JP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kumimoji="1" lang="ja-JP" altLang="en-US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　</a:t>
            </a:r>
            <a:r>
              <a:rPr kumimoji="1" lang="en-US" altLang="ja-JP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UI</a:t>
            </a:r>
            <a:r>
              <a:rPr kumimoji="1" lang="ja-JP" altLang="en-US" sz="2000" dirty="0">
                <a:latin typeface="HGPｺﾞｼｯｸE" panose="020B0900000000000000" pitchFamily="50" charset="-128"/>
                <a:ea typeface="HGPｺﾞｼｯｸE" panose="020B0900000000000000" pitchFamily="50" charset="-128"/>
                <a:cs typeface="Cascadia Code" panose="020B0609020000020004" pitchFamily="49" charset="0"/>
              </a:rPr>
              <a:t>に、アプリ共通のデザインを適用</a:t>
            </a:r>
            <a:br>
              <a:rPr lang="en-US" altLang="ja-JP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endParaRPr kumimoji="1" lang="ja-JP" altLang="en-US" sz="2400" dirty="0">
              <a:latin typeface="Cascadia Code" panose="020B0609020000020004" pitchFamily="49" charset="0"/>
              <a:ea typeface="HGPｺﾞｼｯｸE" panose="020B0900000000000000" pitchFamily="50" charset="-128"/>
              <a:cs typeface="Cascadia Code" panose="020B0609020000020004" pitchFamily="49" charset="0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A581A2CC-55A8-0C0B-D8AC-6AF8C84DD706}"/>
              </a:ext>
            </a:extLst>
          </p:cNvPr>
          <p:cNvSpPr txBox="1"/>
          <p:nvPr/>
        </p:nvSpPr>
        <p:spPr>
          <a:xfrm>
            <a:off x="664027" y="1690688"/>
            <a:ext cx="50027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kumimoji="1" lang="en-US" altLang="ja-JP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Compose</a:t>
            </a:r>
            <a:r>
              <a:rPr kumimoji="1" lang="ja-JP" altLang="en-US" sz="2400" dirty="0">
                <a:latin typeface="HGPｺﾞｼｯｸE" panose="020B0900000000000000" pitchFamily="50" charset="-128"/>
                <a:ea typeface="HGPｺﾞｼｯｸE" panose="020B0900000000000000" pitchFamily="50" charset="-128"/>
                <a:cs typeface="Cascadia Code" panose="020B0609020000020004" pitchFamily="49" charset="0"/>
              </a:rPr>
              <a:t>内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5465218E-D1C4-46C7-23F0-7B893FE5A31C}"/>
              </a:ext>
            </a:extLst>
          </p:cNvPr>
          <p:cNvSpPr txBox="1"/>
          <p:nvPr/>
        </p:nvSpPr>
        <p:spPr>
          <a:xfrm>
            <a:off x="1123559" y="2351782"/>
            <a:ext cx="26219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600" dirty="0">
                <a:solidFill>
                  <a:srgbClr val="FF0000"/>
                </a:solidFill>
                <a:latin typeface="HGPｺﾞｼｯｸE" panose="020B0900000000000000" pitchFamily="50" charset="-128"/>
                <a:ea typeface="HGPｺﾞｼｯｸE" panose="020B0900000000000000" pitchFamily="50" charset="-128"/>
              </a:rPr>
              <a:t>＿＿＿＿＿＿＿＿＿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1D821D90-89BC-5883-CFC9-BCFEE22AECFE}"/>
              </a:ext>
            </a:extLst>
          </p:cNvPr>
          <p:cNvSpPr txBox="1"/>
          <p:nvPr/>
        </p:nvSpPr>
        <p:spPr>
          <a:xfrm>
            <a:off x="1601758" y="5505239"/>
            <a:ext cx="26219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600" dirty="0">
                <a:solidFill>
                  <a:srgbClr val="FF0000"/>
                </a:solidFill>
                <a:latin typeface="HGPｺﾞｼｯｸE" panose="020B0900000000000000" pitchFamily="50" charset="-128"/>
                <a:ea typeface="HGPｺﾞｼｯｸE" panose="020B0900000000000000" pitchFamily="50" charset="-128"/>
              </a:rPr>
              <a:t>＿＿＿＿＿＿＿＿＿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6D86AF7C-C5C3-1C38-4EE9-64D0CB509651}"/>
              </a:ext>
            </a:extLst>
          </p:cNvPr>
          <p:cNvSpPr txBox="1"/>
          <p:nvPr/>
        </p:nvSpPr>
        <p:spPr>
          <a:xfrm>
            <a:off x="838196" y="4397869"/>
            <a:ext cx="629661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・</a:t>
            </a:r>
            <a:r>
              <a:rPr kumimoji="1" lang="en-US" altLang="ja-JP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Scaffold</a:t>
            </a:r>
            <a:br>
              <a:rPr kumimoji="1" lang="en-US" altLang="ja-JP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kumimoji="1" lang="ja-JP" altLang="en-US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　</a:t>
            </a:r>
            <a:r>
              <a:rPr kumimoji="1" lang="ja-JP" altLang="en-US" sz="2000" dirty="0">
                <a:latin typeface="HGPｺﾞｼｯｸE" panose="020B0900000000000000" pitchFamily="50" charset="-128"/>
                <a:ea typeface="HGPｺﾞｼｯｸE" panose="020B0900000000000000" pitchFamily="50" charset="-128"/>
                <a:cs typeface="Cascadia Code" panose="020B0609020000020004" pitchFamily="49" charset="0"/>
              </a:rPr>
              <a:t>画面の土台・骨組みの設定</a:t>
            </a:r>
            <a:br>
              <a:rPr kumimoji="1" lang="en-US" altLang="ja-JP" sz="2000" dirty="0">
                <a:latin typeface="HGPｺﾞｼｯｸE" panose="020B0900000000000000" pitchFamily="50" charset="-128"/>
                <a:ea typeface="HGPｺﾞｼｯｸE" panose="020B0900000000000000" pitchFamily="50" charset="-128"/>
                <a:cs typeface="Cascadia Code" panose="020B0609020000020004" pitchFamily="49" charset="0"/>
              </a:rPr>
            </a:br>
            <a:endParaRPr kumimoji="1" lang="en-US" altLang="ja-JP" sz="2000" dirty="0">
              <a:latin typeface="HGPｺﾞｼｯｸE" panose="020B0900000000000000" pitchFamily="50" charset="-128"/>
              <a:ea typeface="HGPｺﾞｼｯｸE" panose="020B0900000000000000" pitchFamily="50" charset="-128"/>
              <a:cs typeface="Cascadia Code" panose="020B0609020000020004" pitchFamily="49" charset="0"/>
            </a:endParaRPr>
          </a:p>
          <a:p>
            <a:r>
              <a:rPr lang="ja-JP" altLang="en-US" sz="2000" dirty="0">
                <a:latin typeface="HGPｺﾞｼｯｸE" panose="020B0900000000000000" pitchFamily="50" charset="-128"/>
                <a:ea typeface="HGPｺﾞｼｯｸE" panose="020B0900000000000000" pitchFamily="50" charset="-128"/>
                <a:cs typeface="Cascadia Code" panose="020B0609020000020004" pitchFamily="49" charset="0"/>
              </a:rPr>
              <a:t>　　　</a:t>
            </a:r>
            <a:r>
              <a:rPr lang="en-US" altLang="ja-JP" sz="2000" dirty="0">
                <a:latin typeface="HGPｺﾞｼｯｸE" panose="020B0900000000000000" pitchFamily="50" charset="-128"/>
                <a:ea typeface="HGPｺﾞｼｯｸE" panose="020B0900000000000000" pitchFamily="50" charset="-128"/>
                <a:cs typeface="Cascadia Code" panose="020B0609020000020004" pitchFamily="49" charset="0"/>
              </a:rPr>
              <a:t>※</a:t>
            </a:r>
            <a:r>
              <a:rPr lang="en-US" altLang="ja-JP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innerPadding</a:t>
            </a:r>
            <a:r>
              <a:rPr lang="en-US" altLang="ja-JP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... Scaffold</a:t>
            </a:r>
            <a:r>
              <a:rPr lang="ja-JP" altLang="en-US" sz="2000" dirty="0">
                <a:latin typeface="HGPｺﾞｼｯｸE" panose="020B0900000000000000" pitchFamily="50" charset="-128"/>
                <a:ea typeface="HGPｺﾞｼｯｸE" panose="020B0900000000000000" pitchFamily="50" charset="-128"/>
                <a:cs typeface="Cascadia Code" panose="020B0609020000020004" pitchFamily="49" charset="0"/>
              </a:rPr>
              <a:t>の余白情報</a:t>
            </a:r>
            <a:endParaRPr kumimoji="1" lang="ja-JP" altLang="en-US" sz="2400" dirty="0">
              <a:latin typeface="HGPｺﾞｼｯｸE" panose="020B0900000000000000" pitchFamily="50" charset="-128"/>
              <a:ea typeface="HGPｺﾞｼｯｸE" panose="020B0900000000000000" pitchFamily="50" charset="-128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07212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50047F-B0EF-C498-CB19-6F5AE1B15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153455F-E595-A33C-97F6-6C4DE1F12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画面の設計（</a:t>
            </a:r>
            <a:r>
              <a:rPr lang="en-US" altLang="ja-JP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UI</a:t>
            </a:r>
            <a:r>
              <a:rPr lang="ja-JP" altLang="en-US" dirty="0"/>
              <a:t>）</a:t>
            </a:r>
            <a:endParaRPr kumimoji="1" lang="ja-JP" altLang="en-US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B96AE17E-9075-B9B2-34D2-CF922870BCCC}"/>
              </a:ext>
            </a:extLst>
          </p:cNvPr>
          <p:cNvSpPr txBox="1"/>
          <p:nvPr/>
        </p:nvSpPr>
        <p:spPr>
          <a:xfrm>
            <a:off x="838199" y="2228671"/>
            <a:ext cx="500276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・</a:t>
            </a:r>
            <a:r>
              <a:rPr kumimoji="1" lang="en-US" altLang="ja-JP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Greeting</a:t>
            </a:r>
            <a:br>
              <a:rPr kumimoji="1" lang="en-US" altLang="ja-JP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kumimoji="1" lang="ja-JP" altLang="en-US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　</a:t>
            </a:r>
            <a:r>
              <a:rPr kumimoji="1" lang="en-US" altLang="ja-JP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prefs</a:t>
            </a:r>
            <a:r>
              <a:rPr lang="ja-JP" altLang="en-US" sz="2000" dirty="0">
                <a:latin typeface="HGPｺﾞｼｯｸE" panose="020B0900000000000000" pitchFamily="50" charset="-128"/>
                <a:ea typeface="HGPｺﾞｼｯｸE" panose="020B0900000000000000" pitchFamily="50" charset="-128"/>
                <a:cs typeface="Cascadia Code" panose="020B0609020000020004" pitchFamily="49" charset="0"/>
              </a:rPr>
              <a:t>で表示と保存を行う</a:t>
            </a:r>
            <a:endParaRPr lang="en-US" altLang="ja-JP" sz="2000" dirty="0">
              <a:latin typeface="HGPｺﾞｼｯｸE" panose="020B0900000000000000" pitchFamily="50" charset="-128"/>
              <a:ea typeface="HGPｺﾞｼｯｸE" panose="020B0900000000000000" pitchFamily="50" charset="-128"/>
              <a:cs typeface="Cascadia Code" panose="020B0609020000020004" pitchFamily="49" charset="0"/>
            </a:endParaRPr>
          </a:p>
          <a:p>
            <a:r>
              <a:rPr lang="ja-JP" altLang="en-US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　</a:t>
            </a:r>
            <a:r>
              <a:rPr lang="en-US" altLang="ja-JP" sz="2000" dirty="0">
                <a:latin typeface="HGPｺﾞｼｯｸE" panose="020B0900000000000000" pitchFamily="50" charset="-128"/>
                <a:ea typeface="HGPｺﾞｼｯｸE" panose="020B0900000000000000" pitchFamily="50" charset="-128"/>
                <a:cs typeface="Cascadia Code" panose="020B0609020000020004" pitchFamily="49" charset="0"/>
              </a:rPr>
              <a:t>1</a:t>
            </a:r>
            <a:r>
              <a:rPr lang="ja-JP" altLang="en-US" sz="2000" dirty="0">
                <a:latin typeface="HGPｺﾞｼｯｸE" panose="020B0900000000000000" pitchFamily="50" charset="-128"/>
                <a:ea typeface="HGPｺﾞｼｯｸE" panose="020B0900000000000000" pitchFamily="50" charset="-128"/>
                <a:cs typeface="Cascadia Code" panose="020B0609020000020004" pitchFamily="49" charset="0"/>
              </a:rPr>
              <a:t>画面の</a:t>
            </a:r>
            <a:r>
              <a:rPr lang="en-US" altLang="ja-JP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UI</a:t>
            </a:r>
            <a:r>
              <a:rPr lang="ja-JP" altLang="en-US" sz="2000" dirty="0">
                <a:latin typeface="HGPｺﾞｼｯｸE" panose="020B0900000000000000" pitchFamily="50" charset="-128"/>
                <a:ea typeface="HGPｺﾞｼｯｸE" panose="020B0900000000000000" pitchFamily="50" charset="-128"/>
                <a:cs typeface="Cascadia Code" panose="020B0609020000020004" pitchFamily="49" charset="0"/>
              </a:rPr>
              <a:t>を定義</a:t>
            </a:r>
            <a:endParaRPr lang="en-US" altLang="ja-JP" sz="2400" dirty="0">
              <a:latin typeface="HGPｺﾞｼｯｸE" panose="020B0900000000000000" pitchFamily="50" charset="-128"/>
              <a:ea typeface="HGPｺﾞｼｯｸE" panose="020B0900000000000000" pitchFamily="50" charset="-128"/>
              <a:cs typeface="Cascadia Code" panose="020B0609020000020004" pitchFamily="49" charset="0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7DFF6650-C405-4FFB-0BDB-B3F0DD666047}"/>
              </a:ext>
            </a:extLst>
          </p:cNvPr>
          <p:cNvSpPr txBox="1"/>
          <p:nvPr/>
        </p:nvSpPr>
        <p:spPr>
          <a:xfrm>
            <a:off x="838199" y="3766927"/>
            <a:ext cx="500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・</a:t>
            </a:r>
            <a:r>
              <a:rPr kumimoji="1" lang="en-US" altLang="ja-JP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Box</a:t>
            </a:r>
            <a:br>
              <a:rPr kumimoji="1" lang="en-US" altLang="ja-JP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kumimoji="1" lang="ja-JP" altLang="en-US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　</a:t>
            </a:r>
            <a:r>
              <a:rPr kumimoji="1" lang="ja-JP" altLang="en-US" sz="2000" dirty="0">
                <a:latin typeface="HGPｺﾞｼｯｸE" panose="020B0900000000000000" pitchFamily="50" charset="-128"/>
                <a:ea typeface="HGPｺﾞｼｯｸE" panose="020B0900000000000000" pitchFamily="50" charset="-128"/>
                <a:cs typeface="Cascadia Code" panose="020B0609020000020004" pitchFamily="49" charset="0"/>
              </a:rPr>
              <a:t>画面全体を白い画面にする</a:t>
            </a:r>
            <a:endParaRPr kumimoji="1" lang="en-US" altLang="ja-JP" sz="2000" dirty="0">
              <a:latin typeface="HGPｺﾞｼｯｸE" panose="020B0900000000000000" pitchFamily="50" charset="-128"/>
              <a:ea typeface="HGPｺﾞｼｯｸE" panose="020B0900000000000000" pitchFamily="50" charset="-128"/>
              <a:cs typeface="Cascadia Code" panose="020B0609020000020004" pitchFamily="49" charset="0"/>
            </a:endParaRPr>
          </a:p>
          <a:p>
            <a:r>
              <a:rPr lang="ja-JP" altLang="en-US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　</a:t>
            </a:r>
            <a:r>
              <a:rPr lang="ja-JP" altLang="en-US" sz="2000" dirty="0">
                <a:latin typeface="HGPｺﾞｼｯｸE" panose="020B0900000000000000" pitchFamily="50" charset="-128"/>
                <a:ea typeface="HGPｺﾞｼｯｸE" panose="020B0900000000000000" pitchFamily="50" charset="-128"/>
                <a:cs typeface="Cascadia Code" panose="020B0609020000020004" pitchFamily="49" charset="0"/>
              </a:rPr>
              <a:t>画面と土台になる部分</a:t>
            </a:r>
            <a:br>
              <a:rPr lang="en-US" altLang="ja-JP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endParaRPr kumimoji="1" lang="ja-JP" altLang="en-US" sz="2400" dirty="0">
              <a:latin typeface="Cascadia Code" panose="020B0609020000020004" pitchFamily="49" charset="0"/>
              <a:ea typeface="HGPｺﾞｼｯｸE" panose="020B0900000000000000" pitchFamily="50" charset="-128"/>
              <a:cs typeface="Cascadia Code" panose="020B0609020000020004" pitchFamily="49" charset="0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4E8E0846-0154-D027-4456-5893A2EC4578}"/>
              </a:ext>
            </a:extLst>
          </p:cNvPr>
          <p:cNvSpPr txBox="1"/>
          <p:nvPr/>
        </p:nvSpPr>
        <p:spPr>
          <a:xfrm>
            <a:off x="664027" y="1690688"/>
            <a:ext cx="50027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kumimoji="1" lang="en-US" altLang="ja-JP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Composable</a:t>
            </a:r>
            <a:r>
              <a:rPr kumimoji="1" lang="ja-JP" altLang="en-US" sz="2400" dirty="0">
                <a:latin typeface="HGPｺﾞｼｯｸE" panose="020B0900000000000000" pitchFamily="50" charset="-128"/>
                <a:ea typeface="HGPｺﾞｼｯｸE" panose="020B0900000000000000" pitchFamily="50" charset="-128"/>
                <a:cs typeface="Cascadia Code" panose="020B0609020000020004" pitchFamily="49" charset="0"/>
              </a:rPr>
              <a:t>内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606D71DB-2010-F4B5-0AA8-26C9F76D7D96}"/>
              </a:ext>
            </a:extLst>
          </p:cNvPr>
          <p:cNvSpPr txBox="1"/>
          <p:nvPr/>
        </p:nvSpPr>
        <p:spPr>
          <a:xfrm>
            <a:off x="1151268" y="2321003"/>
            <a:ext cx="26219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600" dirty="0">
                <a:solidFill>
                  <a:srgbClr val="FF0000"/>
                </a:solidFill>
                <a:latin typeface="HGPｺﾞｼｯｸE" panose="020B0900000000000000" pitchFamily="50" charset="-128"/>
                <a:ea typeface="HGPｺﾞｼｯｸE" panose="020B0900000000000000" pitchFamily="50" charset="-128"/>
              </a:rPr>
              <a:t>＿＿＿＿＿＿＿</a:t>
            </a:r>
          </a:p>
        </p:txBody>
      </p:sp>
      <p:pic>
        <p:nvPicPr>
          <p:cNvPr id="4" name="図 3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1E9DC33F-EB75-BEFD-0489-EEE2320A5B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4270" y="1905849"/>
            <a:ext cx="3382618" cy="1123678"/>
          </a:xfrm>
          <a:prstGeom prst="rect">
            <a:avLst/>
          </a:prstGeom>
        </p:spPr>
      </p:pic>
      <p:pic>
        <p:nvPicPr>
          <p:cNvPr id="6" name="図 5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055F67AE-4B42-885E-6E8F-B510836CC9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4270" y="3746127"/>
            <a:ext cx="3382618" cy="1479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6541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5A63EF-A516-9CB1-8CF9-E007A894F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9D5FD89-58F3-BEAA-BE05-63E698E6E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おみくじの根幹部分</a:t>
            </a:r>
            <a:endParaRPr kumimoji="1" lang="ja-JP" altLang="en-US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8F8CE913-C8F8-F921-2FA9-771551201A15}"/>
              </a:ext>
            </a:extLst>
          </p:cNvPr>
          <p:cNvSpPr txBox="1"/>
          <p:nvPr/>
        </p:nvSpPr>
        <p:spPr>
          <a:xfrm>
            <a:off x="838199" y="2228671"/>
            <a:ext cx="5002763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・</a:t>
            </a:r>
            <a:r>
              <a:rPr lang="en-US" altLang="ja-JP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Button</a:t>
            </a:r>
            <a:br>
              <a:rPr kumimoji="1" lang="en-US" altLang="ja-JP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ja-JP" altLang="en-US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　</a:t>
            </a:r>
            <a:r>
              <a:rPr lang="ja-JP" altLang="en-US" sz="2000" dirty="0">
                <a:latin typeface="HGPｺﾞｼｯｸE" panose="020B0900000000000000" pitchFamily="50" charset="-128"/>
                <a:ea typeface="HGPｺﾞｼｯｸE" panose="020B0900000000000000" pitchFamily="50" charset="-128"/>
                <a:cs typeface="Cascadia Code" panose="020B0609020000020004" pitchFamily="49" charset="0"/>
              </a:rPr>
              <a:t>ユーザーの入力を受け取る</a:t>
            </a:r>
            <a:br>
              <a:rPr lang="en-US" altLang="ja-JP" sz="2000" dirty="0">
                <a:latin typeface="HGPｺﾞｼｯｸE" panose="020B0900000000000000" pitchFamily="50" charset="-128"/>
                <a:ea typeface="HGPｺﾞｼｯｸE" panose="020B0900000000000000" pitchFamily="50" charset="-128"/>
                <a:cs typeface="Cascadia Code" panose="020B0609020000020004" pitchFamily="49" charset="0"/>
              </a:rPr>
            </a:br>
            <a:r>
              <a:rPr lang="ja-JP" alt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　</a:t>
            </a:r>
            <a:r>
              <a:rPr lang="ja-JP" altLang="en-US" sz="2000" dirty="0">
                <a:latin typeface="HGPｺﾞｼｯｸE" panose="020B0900000000000000" pitchFamily="50" charset="-128"/>
                <a:ea typeface="HGPｺﾞｼｯｸE" panose="020B0900000000000000" pitchFamily="50" charset="-128"/>
                <a:cs typeface="Cascadia Code" panose="020B0609020000020004" pitchFamily="49" charset="0"/>
              </a:rPr>
              <a:t>押されると</a:t>
            </a:r>
            <a:r>
              <a:rPr lang="en-US" altLang="ja-JP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onclick</a:t>
            </a:r>
            <a:r>
              <a:rPr lang="ja-JP" altLang="en-US" sz="2000" dirty="0">
                <a:latin typeface="HGPｺﾞｼｯｸE" panose="020B0900000000000000" pitchFamily="50" charset="-128"/>
                <a:ea typeface="HGPｺﾞｼｯｸE" panose="020B0900000000000000" pitchFamily="50" charset="-128"/>
                <a:cs typeface="Cascadia Code" panose="020B0609020000020004" pitchFamily="49" charset="0"/>
              </a:rPr>
              <a:t>の処理へ</a:t>
            </a:r>
            <a:endParaRPr lang="en-US" altLang="ja-JP" sz="2000" dirty="0">
              <a:latin typeface="HGPｺﾞｼｯｸE" panose="020B0900000000000000" pitchFamily="50" charset="-128"/>
              <a:ea typeface="HGPｺﾞｼｯｸE" panose="020B0900000000000000" pitchFamily="50" charset="-128"/>
              <a:cs typeface="Cascadia Code" panose="020B0609020000020004" pitchFamily="49" charset="0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BA9EFB6C-C534-2B45-8D61-01E2E94275D0}"/>
              </a:ext>
            </a:extLst>
          </p:cNvPr>
          <p:cNvSpPr txBox="1"/>
          <p:nvPr/>
        </p:nvSpPr>
        <p:spPr>
          <a:xfrm>
            <a:off x="838199" y="4882208"/>
            <a:ext cx="56272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・</a:t>
            </a:r>
            <a:r>
              <a:rPr lang="en-US" altLang="ja-JP" sz="24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showDialog</a:t>
            </a:r>
            <a:br>
              <a:rPr lang="en-US" altLang="ja-JP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ja-JP" altLang="en-US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　</a:t>
            </a:r>
            <a:r>
              <a:rPr lang="ja-JP" altLang="en-US" sz="2000" dirty="0">
                <a:latin typeface="HGPｺﾞｼｯｸE" panose="020B0900000000000000" pitchFamily="50" charset="-128"/>
                <a:ea typeface="HGPｺﾞｼｯｸE" panose="020B0900000000000000" pitchFamily="50" charset="-128"/>
                <a:cs typeface="Cascadia Code" panose="020B0609020000020004" pitchFamily="49" charset="0"/>
              </a:rPr>
              <a:t>おみくじ結果をポップアップで表示</a:t>
            </a:r>
            <a:endParaRPr lang="en-US" altLang="ja-JP" sz="2000" dirty="0">
              <a:latin typeface="HGPｺﾞｼｯｸE" panose="020B0900000000000000" pitchFamily="50" charset="-128"/>
              <a:ea typeface="HGPｺﾞｼｯｸE" panose="020B0900000000000000" pitchFamily="50" charset="-128"/>
              <a:cs typeface="Cascadia Code" panose="020B0609020000020004" pitchFamily="49" charset="0"/>
            </a:endParaRPr>
          </a:p>
          <a:p>
            <a:r>
              <a:rPr lang="ja-JP" altLang="en-US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　</a:t>
            </a:r>
            <a:r>
              <a:rPr lang="en-US" altLang="ja-JP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showDialog</a:t>
            </a:r>
            <a:r>
              <a:rPr lang="ja-JP" altLang="en-US" sz="2000" dirty="0">
                <a:latin typeface="HGPｺﾞｼｯｸE" panose="020B0900000000000000" pitchFamily="50" charset="-128"/>
                <a:ea typeface="HGPｺﾞｼｯｸE" panose="020B0900000000000000" pitchFamily="50" charset="-128"/>
                <a:cs typeface="Cascadia Code" panose="020B0609020000020004" pitchFamily="49" charset="0"/>
              </a:rPr>
              <a:t>によって表示・非表示を制御</a:t>
            </a:r>
            <a:endParaRPr kumimoji="1" lang="ja-JP" altLang="en-US" sz="2400" dirty="0">
              <a:latin typeface="Cascadia Code" panose="020B0609020000020004" pitchFamily="49" charset="0"/>
              <a:ea typeface="HGPｺﾞｼｯｸE" panose="020B0900000000000000" pitchFamily="50" charset="-128"/>
              <a:cs typeface="Cascadia Code" panose="020B0609020000020004" pitchFamily="49" charset="0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4D56344D-EFB5-EDCF-73B6-8817F029585C}"/>
              </a:ext>
            </a:extLst>
          </p:cNvPr>
          <p:cNvSpPr txBox="1"/>
          <p:nvPr/>
        </p:nvSpPr>
        <p:spPr>
          <a:xfrm>
            <a:off x="664027" y="1690688"/>
            <a:ext cx="50027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kumimoji="1" lang="en-US" altLang="ja-JP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Composable</a:t>
            </a:r>
            <a:r>
              <a:rPr kumimoji="1" lang="ja-JP" altLang="en-US" sz="2400" dirty="0">
                <a:latin typeface="HGPｺﾞｼｯｸE" panose="020B0900000000000000" pitchFamily="50" charset="-128"/>
                <a:ea typeface="HGPｺﾞｼｯｸE" panose="020B0900000000000000" pitchFamily="50" charset="-128"/>
                <a:cs typeface="Cascadia Code" panose="020B0609020000020004" pitchFamily="49" charset="0"/>
              </a:rPr>
              <a:t>内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FD1EAFA6-00B4-B57C-4A7C-DD325CCF8138}"/>
              </a:ext>
            </a:extLst>
          </p:cNvPr>
          <p:cNvSpPr txBox="1"/>
          <p:nvPr/>
        </p:nvSpPr>
        <p:spPr>
          <a:xfrm>
            <a:off x="1169740" y="2321003"/>
            <a:ext cx="26219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600" dirty="0">
                <a:solidFill>
                  <a:srgbClr val="FF0000"/>
                </a:solidFill>
                <a:latin typeface="HGPｺﾞｼｯｸE" panose="020B0900000000000000" pitchFamily="50" charset="-128"/>
                <a:ea typeface="HGPｺﾞｼｯｸE" panose="020B0900000000000000" pitchFamily="50" charset="-128"/>
              </a:rPr>
              <a:t>＿＿＿＿＿</a:t>
            </a:r>
          </a:p>
        </p:txBody>
      </p:sp>
      <p:pic>
        <p:nvPicPr>
          <p:cNvPr id="5" name="図 4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477AA75D-D264-B5DF-909F-78CC9B5D21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3084" y="1797859"/>
            <a:ext cx="4683553" cy="1450237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D79FE320-8DE9-EDAB-89F9-D51A5F296E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3084" y="3571734"/>
            <a:ext cx="5653328" cy="362957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D5961FAA-C8BF-6DEE-19C3-4F32E483B0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3084" y="4052717"/>
            <a:ext cx="5214480" cy="362957"/>
          </a:xfrm>
          <a:prstGeom prst="rect">
            <a:avLst/>
          </a:prstGeom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ADC70929-4858-694F-D46C-94EA5CFA42C1}"/>
              </a:ext>
            </a:extLst>
          </p:cNvPr>
          <p:cNvSpPr txBox="1"/>
          <p:nvPr/>
        </p:nvSpPr>
        <p:spPr>
          <a:xfrm>
            <a:off x="838199" y="3510168"/>
            <a:ext cx="5002763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・</a:t>
            </a:r>
            <a:r>
              <a:rPr kumimoji="1" lang="en-US" altLang="ja-JP" sz="24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Random.nextInt</a:t>
            </a:r>
            <a:br>
              <a:rPr kumimoji="1" lang="en-US" altLang="ja-JP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ja-JP" altLang="en-US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　</a:t>
            </a:r>
            <a:r>
              <a:rPr lang="ja-JP" altLang="en-US" sz="2000" dirty="0">
                <a:latin typeface="HGPｺﾞｼｯｸE" panose="020B0900000000000000" pitchFamily="50" charset="-128"/>
                <a:ea typeface="HGPｺﾞｼｯｸE" panose="020B0900000000000000" pitchFamily="50" charset="-128"/>
                <a:cs typeface="Cascadia Code" panose="020B0609020000020004" pitchFamily="49" charset="0"/>
              </a:rPr>
              <a:t>おみくじの内容を</a:t>
            </a:r>
            <a:r>
              <a:rPr lang="en-US" altLang="ja-JP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list</a:t>
            </a:r>
            <a:r>
              <a:rPr lang="ja-JP" altLang="en-US" sz="2000" dirty="0">
                <a:latin typeface="HGPｺﾞｼｯｸE" panose="020B0900000000000000" pitchFamily="50" charset="-128"/>
                <a:ea typeface="HGPｺﾞｼｯｸE" panose="020B0900000000000000" pitchFamily="50" charset="-128"/>
                <a:cs typeface="Cascadia Code" panose="020B0609020000020004" pitchFamily="49" charset="0"/>
              </a:rPr>
              <a:t>で定義</a:t>
            </a:r>
            <a:endParaRPr lang="en-US" altLang="ja-JP" sz="2000" dirty="0">
              <a:latin typeface="HGPｺﾞｼｯｸE" panose="020B0900000000000000" pitchFamily="50" charset="-128"/>
              <a:ea typeface="HGPｺﾞｼｯｸE" panose="020B0900000000000000" pitchFamily="50" charset="-128"/>
              <a:cs typeface="Cascadia Code" panose="020B0609020000020004" pitchFamily="49" charset="0"/>
            </a:endParaRPr>
          </a:p>
          <a:p>
            <a:r>
              <a:rPr lang="ja-JP" altLang="en-US" sz="2000" dirty="0">
                <a:latin typeface="HGPｺﾞｼｯｸE" panose="020B0900000000000000" pitchFamily="50" charset="-128"/>
                <a:ea typeface="HGPｺﾞｼｯｸE" panose="020B0900000000000000" pitchFamily="50" charset="-128"/>
                <a:cs typeface="Cascadia Code" panose="020B0609020000020004" pitchFamily="49" charset="0"/>
              </a:rPr>
              <a:t>　　乱数を生成⇒その番号の要素を取り出す</a:t>
            </a:r>
            <a:endParaRPr lang="en-US" altLang="ja-JP" sz="2400" dirty="0">
              <a:latin typeface="HGPｺﾞｼｯｸE" panose="020B0900000000000000" pitchFamily="50" charset="-128"/>
              <a:ea typeface="HGPｺﾞｼｯｸE" panose="020B0900000000000000" pitchFamily="50" charset="-128"/>
              <a:cs typeface="Cascadia Code" panose="020B0609020000020004" pitchFamily="49" charset="0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CE86CF17-D1A9-A430-787D-1C65B631A978}"/>
              </a:ext>
            </a:extLst>
          </p:cNvPr>
          <p:cNvSpPr txBox="1"/>
          <p:nvPr/>
        </p:nvSpPr>
        <p:spPr>
          <a:xfrm>
            <a:off x="1169740" y="3602500"/>
            <a:ext cx="28018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600" dirty="0">
                <a:solidFill>
                  <a:srgbClr val="FF0000"/>
                </a:solidFill>
                <a:latin typeface="HGPｺﾞｼｯｸE" panose="020B0900000000000000" pitchFamily="50" charset="-128"/>
                <a:ea typeface="HGPｺﾞｼｯｸE" panose="020B0900000000000000" pitchFamily="50" charset="-128"/>
              </a:rPr>
              <a:t>＿＿＿＿＿</a:t>
            </a:r>
            <a:r>
              <a:rPr kumimoji="1" lang="en-US" altLang="ja-JP" sz="1600" dirty="0">
                <a:solidFill>
                  <a:srgbClr val="FF0000"/>
                </a:solidFill>
                <a:latin typeface="HGPｺﾞｼｯｸE" panose="020B0900000000000000" pitchFamily="50" charset="-128"/>
                <a:ea typeface="HGPｺﾞｼｯｸE" panose="020B0900000000000000" pitchFamily="50" charset="-128"/>
              </a:rPr>
              <a:t>_____________________</a:t>
            </a:r>
            <a:endParaRPr kumimoji="1" lang="ja-JP" altLang="en-US" sz="1600" dirty="0">
              <a:solidFill>
                <a:srgbClr val="FF0000"/>
              </a:solidFill>
              <a:latin typeface="HGPｺﾞｼｯｸE" panose="020B0900000000000000" pitchFamily="50" charset="-128"/>
              <a:ea typeface="HGPｺﾞｼｯｸE" panose="020B0900000000000000" pitchFamily="50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2280E9A6-75DB-A3DC-6CE0-B6F1AF579E95}"/>
              </a:ext>
            </a:extLst>
          </p:cNvPr>
          <p:cNvSpPr txBox="1"/>
          <p:nvPr/>
        </p:nvSpPr>
        <p:spPr>
          <a:xfrm>
            <a:off x="1079743" y="5005319"/>
            <a:ext cx="28018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600" dirty="0">
                <a:solidFill>
                  <a:srgbClr val="FF0000"/>
                </a:solidFill>
                <a:latin typeface="HGPｺﾞｼｯｸE" panose="020B0900000000000000" pitchFamily="50" charset="-128"/>
                <a:ea typeface="HGPｺﾞｼｯｸE" panose="020B0900000000000000" pitchFamily="50" charset="-128"/>
              </a:rPr>
              <a:t>＿＿＿＿＿</a:t>
            </a:r>
            <a:r>
              <a:rPr kumimoji="1" lang="en-US" altLang="ja-JP" sz="1600" dirty="0">
                <a:solidFill>
                  <a:srgbClr val="FF0000"/>
                </a:solidFill>
                <a:latin typeface="HGPｺﾞｼｯｸE" panose="020B0900000000000000" pitchFamily="50" charset="-128"/>
                <a:ea typeface="HGPｺﾞｼｯｸE" panose="020B0900000000000000" pitchFamily="50" charset="-128"/>
              </a:rPr>
              <a:t>_____________</a:t>
            </a:r>
            <a:endParaRPr kumimoji="1" lang="ja-JP" altLang="en-US" sz="1600" dirty="0">
              <a:solidFill>
                <a:srgbClr val="FF0000"/>
              </a:solidFill>
              <a:latin typeface="HGPｺﾞｼｯｸE" panose="020B0900000000000000" pitchFamily="50" charset="-128"/>
              <a:ea typeface="HGPｺﾞｼｯｸE" panose="020B0900000000000000" pitchFamily="50" charset="-128"/>
            </a:endParaRPr>
          </a:p>
        </p:txBody>
      </p:sp>
      <p:pic>
        <p:nvPicPr>
          <p:cNvPr id="21" name="図 20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B30AC86F-9C08-942A-09AE-B4C39A8358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5475" y="4648941"/>
            <a:ext cx="2591162" cy="1857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7462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3BAEEC-DB37-A704-DCD7-4D39D874A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A65D713-A983-851C-1D83-E6D062B89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データ保存部分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E830D5E4-6D19-DAB7-A1AE-082785AF3C29}"/>
              </a:ext>
            </a:extLst>
          </p:cNvPr>
          <p:cNvSpPr txBox="1"/>
          <p:nvPr/>
        </p:nvSpPr>
        <p:spPr>
          <a:xfrm>
            <a:off x="838199" y="2228671"/>
            <a:ext cx="50027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・</a:t>
            </a:r>
            <a:r>
              <a:rPr kumimoji="1" lang="en-US" altLang="ja-JP" sz="24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SharedPreferences</a:t>
            </a:r>
            <a:r>
              <a:rPr kumimoji="1" lang="ja-JP" altLang="en-US" sz="2400" dirty="0">
                <a:latin typeface="HGPｺﾞｼｯｸE" panose="020B0900000000000000" pitchFamily="50" charset="-128"/>
                <a:ea typeface="HGPｺﾞｼｯｸE" panose="020B0900000000000000" pitchFamily="50" charset="-128"/>
                <a:cs typeface="Cascadia Code" panose="020B0609020000020004" pitchFamily="49" charset="0"/>
              </a:rPr>
              <a:t>の取得</a:t>
            </a:r>
            <a:br>
              <a:rPr kumimoji="1" lang="en-US" altLang="ja-JP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kumimoji="1" lang="ja-JP" altLang="en-US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　</a:t>
            </a:r>
            <a:r>
              <a:rPr kumimoji="1" lang="ja-JP" altLang="en-US" sz="2000" dirty="0">
                <a:latin typeface="HGPｺﾞｼｯｸE" panose="020B0900000000000000" pitchFamily="50" charset="-128"/>
                <a:ea typeface="HGPｺﾞｼｯｸE" panose="020B0900000000000000" pitchFamily="50" charset="-128"/>
                <a:cs typeface="Cascadia Code" panose="020B0609020000020004" pitchFamily="49" charset="0"/>
              </a:rPr>
              <a:t>保存用の箱を用意</a:t>
            </a:r>
            <a:endParaRPr lang="en-US" altLang="ja-JP" sz="2000" dirty="0">
              <a:latin typeface="HGPｺﾞｼｯｸE" panose="020B0900000000000000" pitchFamily="50" charset="-128"/>
              <a:ea typeface="HGPｺﾞｼｯｸE" panose="020B0900000000000000" pitchFamily="50" charset="-128"/>
              <a:cs typeface="Cascadia Code" panose="020B0609020000020004" pitchFamily="49" charset="0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6EB2F536-7558-B168-2370-1DE198F0B078}"/>
              </a:ext>
            </a:extLst>
          </p:cNvPr>
          <p:cNvSpPr txBox="1"/>
          <p:nvPr/>
        </p:nvSpPr>
        <p:spPr>
          <a:xfrm>
            <a:off x="838199" y="3819562"/>
            <a:ext cx="500276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・</a:t>
            </a:r>
            <a:r>
              <a:rPr kumimoji="1" lang="en-US" altLang="ja-JP" sz="24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mutableStateOf</a:t>
            </a:r>
            <a:endParaRPr lang="en-US" altLang="ja-JP" sz="24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ja-JP" alt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　</a:t>
            </a:r>
            <a:r>
              <a:rPr kumimoji="1" lang="ja-JP" altLang="en-US" sz="2000" dirty="0">
                <a:latin typeface="Cascadia Code" panose="020B0609020000020004" pitchFamily="49" charset="0"/>
                <a:ea typeface="HGPｺﾞｼｯｸE" panose="020B0900000000000000" pitchFamily="50" charset="-128"/>
                <a:cs typeface="Cascadia Code" panose="020B0609020000020004" pitchFamily="49" charset="0"/>
              </a:rPr>
              <a:t>保存していた前回の結果を取得</a:t>
            </a:r>
            <a:br>
              <a:rPr kumimoji="1" lang="en-US" altLang="ja-JP" sz="2000" dirty="0">
                <a:latin typeface="Cascadia Code" panose="020B0609020000020004" pitchFamily="49" charset="0"/>
                <a:ea typeface="HGPｺﾞｼｯｸE" panose="020B0900000000000000" pitchFamily="50" charset="-128"/>
                <a:cs typeface="Cascadia Code" panose="020B0609020000020004" pitchFamily="49" charset="0"/>
              </a:rPr>
            </a:br>
            <a:r>
              <a:rPr lang="ja-JP" alt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　</a:t>
            </a:r>
            <a:r>
              <a:rPr lang="ja-JP" altLang="en-US" sz="2000" dirty="0">
                <a:latin typeface="HGPｺﾞｼｯｸE" panose="020B0900000000000000" pitchFamily="50" charset="-128"/>
                <a:ea typeface="HGPｺﾞｼｯｸE" panose="020B0900000000000000" pitchFamily="50" charset="-128"/>
                <a:cs typeface="Cascadia Code" panose="020B0609020000020004" pitchFamily="49" charset="0"/>
              </a:rPr>
              <a:t>⇒なければ空文字を返す</a:t>
            </a:r>
            <a:br>
              <a:rPr lang="en-US" altLang="ja-JP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endParaRPr kumimoji="1" lang="ja-JP" altLang="en-US" sz="2400" dirty="0">
              <a:latin typeface="Cascadia Code" panose="020B0609020000020004" pitchFamily="49" charset="0"/>
              <a:ea typeface="HGPｺﾞｼｯｸE" panose="020B0900000000000000" pitchFamily="50" charset="-128"/>
              <a:cs typeface="Cascadia Code" panose="020B0609020000020004" pitchFamily="49" charset="0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14C3CDC0-0F54-FE2D-F124-E72F23269A10}"/>
              </a:ext>
            </a:extLst>
          </p:cNvPr>
          <p:cNvSpPr txBox="1"/>
          <p:nvPr/>
        </p:nvSpPr>
        <p:spPr>
          <a:xfrm>
            <a:off x="664027" y="1690688"/>
            <a:ext cx="50027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kumimoji="1" lang="en-US" altLang="ja-JP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Compose</a:t>
            </a:r>
            <a:r>
              <a:rPr kumimoji="1" lang="ja-JP" altLang="en-US" sz="2400" dirty="0">
                <a:latin typeface="HGPｺﾞｼｯｸE" panose="020B0900000000000000" pitchFamily="50" charset="-128"/>
                <a:ea typeface="HGPｺﾞｼｯｸE" panose="020B0900000000000000" pitchFamily="50" charset="-128"/>
                <a:cs typeface="Cascadia Code" panose="020B0609020000020004" pitchFamily="49" charset="0"/>
              </a:rPr>
              <a:t>内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A4511C60-85F2-6B1F-2A66-26076378B62F}"/>
              </a:ext>
            </a:extLst>
          </p:cNvPr>
          <p:cNvSpPr txBox="1"/>
          <p:nvPr/>
        </p:nvSpPr>
        <p:spPr>
          <a:xfrm>
            <a:off x="1151268" y="2321003"/>
            <a:ext cx="37901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600" dirty="0">
                <a:solidFill>
                  <a:srgbClr val="FF0000"/>
                </a:solidFill>
                <a:latin typeface="HGPｺﾞｼｯｸE" panose="020B0900000000000000" pitchFamily="50" charset="-128"/>
                <a:ea typeface="HGPｺﾞｼｯｸE" panose="020B0900000000000000" pitchFamily="50" charset="-128"/>
              </a:rPr>
              <a:t>＿＿＿＿＿＿＿</a:t>
            </a:r>
            <a:r>
              <a:rPr kumimoji="1" lang="en-US" altLang="ja-JP" sz="1600" dirty="0">
                <a:solidFill>
                  <a:srgbClr val="FF0000"/>
                </a:solidFill>
                <a:latin typeface="HGPｺﾞｼｯｸE" panose="020B0900000000000000" pitchFamily="50" charset="-128"/>
                <a:ea typeface="HGPｺﾞｼｯｸE" panose="020B0900000000000000" pitchFamily="50" charset="-128"/>
              </a:rPr>
              <a:t>________________________</a:t>
            </a:r>
            <a:endParaRPr kumimoji="1" lang="ja-JP" altLang="en-US" sz="1600" dirty="0">
              <a:solidFill>
                <a:srgbClr val="FF0000"/>
              </a:solidFill>
              <a:latin typeface="HGPｺﾞｼｯｸE" panose="020B0900000000000000" pitchFamily="50" charset="-128"/>
              <a:ea typeface="HGPｺﾞｼｯｸE" panose="020B0900000000000000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CBD4906-10DB-E77C-5B7A-9E9AEDA2D70D}"/>
              </a:ext>
            </a:extLst>
          </p:cNvPr>
          <p:cNvSpPr txBox="1"/>
          <p:nvPr/>
        </p:nvSpPr>
        <p:spPr>
          <a:xfrm>
            <a:off x="664026" y="3357897"/>
            <a:ext cx="50027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kumimoji="1" lang="en-US" altLang="ja-JP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Composable</a:t>
            </a:r>
            <a:r>
              <a:rPr kumimoji="1" lang="ja-JP" altLang="en-US" sz="2400" dirty="0">
                <a:latin typeface="HGPｺﾞｼｯｸE" panose="020B0900000000000000" pitchFamily="50" charset="-128"/>
                <a:ea typeface="HGPｺﾞｼｯｸE" panose="020B0900000000000000" pitchFamily="50" charset="-128"/>
                <a:cs typeface="Cascadia Code" panose="020B0609020000020004" pitchFamily="49" charset="0"/>
              </a:rPr>
              <a:t>内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DC12D470-9050-D7F6-7D83-77A08C46BC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6789" y="2193328"/>
            <a:ext cx="6091822" cy="366242"/>
          </a:xfrm>
          <a:prstGeom prst="rect">
            <a:avLst/>
          </a:prstGeom>
        </p:spPr>
      </p:pic>
      <p:pic>
        <p:nvPicPr>
          <p:cNvPr id="9" name="図 8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5DEBAB90-2502-AC4F-65BD-62A6729241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6789" y="3669138"/>
            <a:ext cx="6183466" cy="901491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EEB06F52-C76E-5935-DCC4-7796C531CDB0}"/>
              </a:ext>
            </a:extLst>
          </p:cNvPr>
          <p:cNvSpPr txBox="1"/>
          <p:nvPr/>
        </p:nvSpPr>
        <p:spPr>
          <a:xfrm>
            <a:off x="1151268" y="3881117"/>
            <a:ext cx="37901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600" dirty="0">
                <a:solidFill>
                  <a:srgbClr val="FF0000"/>
                </a:solidFill>
                <a:latin typeface="HGPｺﾞｼｯｸE" panose="020B0900000000000000" pitchFamily="50" charset="-128"/>
                <a:ea typeface="HGPｺﾞｼｯｸE" panose="020B0900000000000000" pitchFamily="50" charset="-128"/>
              </a:rPr>
              <a:t>＿＿＿＿＿＿＿</a:t>
            </a:r>
            <a:r>
              <a:rPr kumimoji="1" lang="en-US" altLang="ja-JP" sz="1600" dirty="0">
                <a:solidFill>
                  <a:srgbClr val="FF0000"/>
                </a:solidFill>
                <a:latin typeface="HGPｺﾞｼｯｸE" panose="020B0900000000000000" pitchFamily="50" charset="-128"/>
                <a:ea typeface="HGPｺﾞｼｯｸE" panose="020B0900000000000000" pitchFamily="50" charset="-128"/>
              </a:rPr>
              <a:t>________________</a:t>
            </a:r>
            <a:endParaRPr kumimoji="1" lang="ja-JP" altLang="en-US" sz="1600" dirty="0">
              <a:solidFill>
                <a:srgbClr val="FF0000"/>
              </a:solidFill>
              <a:latin typeface="HGPｺﾞｼｯｸE" panose="020B0900000000000000" pitchFamily="50" charset="-128"/>
              <a:ea typeface="HGPｺﾞｼｯｸE" panose="020B09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927729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91196-9CF0-C0E2-0C58-A723FCFE9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0470DF6-EAF3-CCC6-D67F-912424260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データ保存部分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21F77772-2B6E-55FB-7BCD-3971EF49BC22}"/>
              </a:ext>
            </a:extLst>
          </p:cNvPr>
          <p:cNvSpPr txBox="1"/>
          <p:nvPr/>
        </p:nvSpPr>
        <p:spPr>
          <a:xfrm>
            <a:off x="773545" y="2674461"/>
            <a:ext cx="50027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　</a:t>
            </a:r>
            <a:r>
              <a:rPr lang="ja-JP" altLang="en-US" sz="2000" dirty="0">
                <a:latin typeface="HGPｺﾞｼｯｸE" panose="020B0900000000000000" pitchFamily="50" charset="-128"/>
                <a:ea typeface="HGPｺﾞｼｯｸE" panose="020B0900000000000000" pitchFamily="50" charset="-128"/>
                <a:cs typeface="Cascadia Code" panose="020B0609020000020004" pitchFamily="49" charset="0"/>
              </a:rPr>
              <a:t>今回の結果を「前回の結果」として保存</a:t>
            </a:r>
            <a:br>
              <a:rPr kumimoji="1" lang="en-US" altLang="ja-JP" sz="2000" dirty="0">
                <a:latin typeface="Cascadia Code" panose="020B0609020000020004" pitchFamily="49" charset="0"/>
                <a:ea typeface="HGPｺﾞｼｯｸE" panose="020B0900000000000000" pitchFamily="50" charset="-128"/>
                <a:cs typeface="Cascadia Code" panose="020B0609020000020004" pitchFamily="49" charset="0"/>
              </a:rPr>
            </a:br>
            <a:r>
              <a:rPr lang="ja-JP" alt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　</a:t>
            </a:r>
            <a:r>
              <a:rPr lang="ja-JP" altLang="en-US" sz="2000" dirty="0">
                <a:latin typeface="HGPｺﾞｼｯｸE" panose="020B0900000000000000" pitchFamily="50" charset="-128"/>
                <a:ea typeface="HGPｺﾞｼｯｸE" panose="020B0900000000000000" pitchFamily="50" charset="-128"/>
                <a:cs typeface="Cascadia Code" panose="020B0609020000020004" pitchFamily="49" charset="0"/>
              </a:rPr>
              <a:t>再起動しても保存される</a:t>
            </a:r>
            <a:endParaRPr kumimoji="1" lang="ja-JP" altLang="en-US" sz="2400" dirty="0">
              <a:latin typeface="HGPｺﾞｼｯｸE" panose="020B0900000000000000" pitchFamily="50" charset="-128"/>
              <a:ea typeface="HGPｺﾞｼｯｸE" panose="020B0900000000000000" pitchFamily="50" charset="-128"/>
              <a:cs typeface="Cascadia Code" panose="020B0609020000020004" pitchFamily="49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148D640-D214-9EA8-B87B-5F15B1962D34}"/>
              </a:ext>
            </a:extLst>
          </p:cNvPr>
          <p:cNvSpPr txBox="1"/>
          <p:nvPr/>
        </p:nvSpPr>
        <p:spPr>
          <a:xfrm>
            <a:off x="664026" y="1870847"/>
            <a:ext cx="50027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kumimoji="1" lang="en-US" altLang="ja-JP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Composable</a:t>
            </a:r>
            <a:r>
              <a:rPr kumimoji="1" lang="ja-JP" altLang="en-US" sz="2400" dirty="0">
                <a:latin typeface="HGPｺﾞｼｯｸE" panose="020B0900000000000000" pitchFamily="50" charset="-128"/>
                <a:ea typeface="HGPｺﾞｼｯｸE" panose="020B0900000000000000" pitchFamily="50" charset="-128"/>
                <a:cs typeface="Cascadia Code" panose="020B0609020000020004" pitchFamily="49" charset="0"/>
              </a:rPr>
              <a:t>内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F6D69E86-DADA-484E-8F36-2EA03DC1CD68}"/>
              </a:ext>
            </a:extLst>
          </p:cNvPr>
          <p:cNvSpPr txBox="1"/>
          <p:nvPr/>
        </p:nvSpPr>
        <p:spPr>
          <a:xfrm>
            <a:off x="7136431" y="3568152"/>
            <a:ext cx="37901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600" dirty="0">
                <a:solidFill>
                  <a:srgbClr val="FF0000"/>
                </a:solidFill>
                <a:latin typeface="HGPｺﾞｼｯｸE" panose="020B0900000000000000" pitchFamily="50" charset="-128"/>
                <a:ea typeface="HGPｺﾞｼｯｸE" panose="020B0900000000000000" pitchFamily="50" charset="-128"/>
              </a:rPr>
              <a:t>＿＿＿＿＿＿＿</a:t>
            </a:r>
            <a:r>
              <a:rPr kumimoji="1" lang="en-US" altLang="ja-JP" sz="1600" dirty="0">
                <a:solidFill>
                  <a:srgbClr val="FF0000"/>
                </a:solidFill>
                <a:latin typeface="HGPｺﾞｼｯｸE" panose="020B0900000000000000" pitchFamily="50" charset="-128"/>
                <a:ea typeface="HGPｺﾞｼｯｸE" panose="020B0900000000000000" pitchFamily="50" charset="-128"/>
              </a:rPr>
              <a:t>________________</a:t>
            </a:r>
            <a:endParaRPr kumimoji="1" lang="ja-JP" altLang="en-US" sz="1600" dirty="0">
              <a:solidFill>
                <a:srgbClr val="FF0000"/>
              </a:solidFill>
              <a:latin typeface="HGPｺﾞｼｯｸE" panose="020B0900000000000000" pitchFamily="50" charset="-128"/>
              <a:ea typeface="HGPｺﾞｼｯｸE" panose="020B0900000000000000" pitchFamily="50" charset="-128"/>
            </a:endParaRPr>
          </a:p>
        </p:txBody>
      </p:sp>
      <p:pic>
        <p:nvPicPr>
          <p:cNvPr id="19" name="図 18" descr="テキスト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99EB72A6-9794-EFDF-DF75-411E88859D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637384"/>
            <a:ext cx="4313756" cy="1018893"/>
          </a:xfrm>
          <a:prstGeom prst="rect">
            <a:avLst/>
          </a:prstGeom>
        </p:spPr>
      </p:pic>
      <p:pic>
        <p:nvPicPr>
          <p:cNvPr id="21" name="図 20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271E8A17-8D0B-CECD-4483-FC57A83F59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4010682"/>
            <a:ext cx="3329917" cy="1281754"/>
          </a:xfrm>
          <a:prstGeom prst="rect">
            <a:avLst/>
          </a:prstGeom>
        </p:spPr>
      </p:pic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7CFC8C6D-6E2A-B28F-99E6-528B67DFDB7B}"/>
              </a:ext>
            </a:extLst>
          </p:cNvPr>
          <p:cNvSpPr txBox="1"/>
          <p:nvPr/>
        </p:nvSpPr>
        <p:spPr>
          <a:xfrm>
            <a:off x="773545" y="4171546"/>
            <a:ext cx="50027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　</a:t>
            </a:r>
            <a:r>
              <a:rPr lang="en-US" altLang="ja-JP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lastResult</a:t>
            </a:r>
            <a:r>
              <a:rPr lang="ja-JP" altLang="en-US" sz="2000" dirty="0">
                <a:latin typeface="HGPｺﾞｼｯｸE" panose="020B0900000000000000" pitchFamily="50" charset="-128"/>
                <a:ea typeface="HGPｺﾞｼｯｸE" panose="020B0900000000000000" pitchFamily="50" charset="-128"/>
                <a:cs typeface="Cascadia Code" panose="020B0609020000020004" pitchFamily="49" charset="0"/>
              </a:rPr>
              <a:t>が空で無ければ</a:t>
            </a:r>
            <a:br>
              <a:rPr kumimoji="1" lang="en-US" altLang="ja-JP" sz="2000" dirty="0">
                <a:latin typeface="Cascadia Code" panose="020B0609020000020004" pitchFamily="49" charset="0"/>
                <a:ea typeface="HGPｺﾞｼｯｸE" panose="020B0900000000000000" pitchFamily="50" charset="-128"/>
                <a:cs typeface="Cascadia Code" panose="020B0609020000020004" pitchFamily="49" charset="0"/>
              </a:rPr>
            </a:br>
            <a:r>
              <a:rPr lang="ja-JP" alt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　</a:t>
            </a:r>
            <a:r>
              <a:rPr lang="en-US" altLang="ja-JP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Result</a:t>
            </a:r>
            <a:r>
              <a:rPr lang="ja-JP" altLang="en-US" sz="2000" dirty="0">
                <a:latin typeface="HGPｺﾞｼｯｸE" panose="020B0900000000000000" pitchFamily="50" charset="-128"/>
                <a:ea typeface="HGPｺﾞｼｯｸE" panose="020B0900000000000000" pitchFamily="50" charset="-128"/>
                <a:cs typeface="Cascadia Code" panose="020B0609020000020004" pitchFamily="49" charset="0"/>
              </a:rPr>
              <a:t>に</a:t>
            </a:r>
            <a:r>
              <a:rPr lang="en-US" altLang="ja-JP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lastResult</a:t>
            </a:r>
            <a:r>
              <a:rPr lang="ja-JP" altLang="en-US" sz="2000" dirty="0">
                <a:latin typeface="HGPｺﾞｼｯｸE" panose="020B0900000000000000" pitchFamily="50" charset="-128"/>
                <a:ea typeface="HGPｺﾞｼｯｸE" panose="020B0900000000000000" pitchFamily="50" charset="-128"/>
                <a:cs typeface="Cascadia Code" panose="020B0609020000020004" pitchFamily="49" charset="0"/>
              </a:rPr>
              <a:t>を入れて表示</a:t>
            </a:r>
            <a:endParaRPr kumimoji="1" lang="ja-JP" altLang="en-US" sz="2400" dirty="0">
              <a:latin typeface="HGPｺﾞｼｯｸE" panose="020B0900000000000000" pitchFamily="50" charset="-128"/>
              <a:ea typeface="HGPｺﾞｼｯｸE" panose="020B0900000000000000" pitchFamily="50" charset="-128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88966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7C5E706-3200-CD3E-8412-4F5E7EA09B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03890"/>
            <a:ext cx="9144000" cy="1587600"/>
          </a:xfrm>
        </p:spPr>
        <p:txBody>
          <a:bodyPr>
            <a:normAutofit/>
          </a:bodyPr>
          <a:lstStyle/>
          <a:p>
            <a:r>
              <a:rPr kumimoji="1" lang="ja-JP" altLang="en-US" sz="4000" dirty="0"/>
              <a:t>ご清聴ありがとうございました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EF409975-BEDA-78BC-7AAB-148ADEE212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472" y="4166511"/>
            <a:ext cx="2876939" cy="2157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7484639"/>
      </p:ext>
    </p:extLst>
  </p:cSld>
  <p:clrMapOvr>
    <a:masterClrMapping/>
  </p:clrMapOvr>
</p:sld>
</file>

<file path=ppt/theme/theme1.xml><?xml version="1.0" encoding="utf-8"?>
<a:theme xmlns:a="http://schemas.openxmlformats.org/drawingml/2006/main" name="RGBcolor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00B0F0"/>
        </a:solidFill>
        <a:ln>
          <a:noFill/>
        </a:ln>
      </a:spPr>
      <a:bodyPr wrap="square" rtlCol="0" anchor="ctr">
        <a:noAutofit/>
      </a:bodyPr>
      <a:lstStyle>
        <a:defPPr algn="ctr">
          <a:defRPr kumimoji="1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RGBcolor" id="{5AB29331-1A7E-4807-9974-47D9A9E2D453}" vid="{0F6CA15F-A8EA-459D-8012-8875FCEFD77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RGBcolor</Template>
  <TotalTime>248</TotalTime>
  <Words>467</Words>
  <Application>Microsoft Office PowerPoint</Application>
  <PresentationFormat>ワイド画面</PresentationFormat>
  <Paragraphs>54</Paragraphs>
  <Slides>10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5" baseType="lpstr">
      <vt:lpstr>HGPｺﾞｼｯｸE</vt:lpstr>
      <vt:lpstr>游ゴシック</vt:lpstr>
      <vt:lpstr>Arial</vt:lpstr>
      <vt:lpstr>Cascadia Code</vt:lpstr>
      <vt:lpstr>RGBcolor</vt:lpstr>
      <vt:lpstr>おみくじアプリ</vt:lpstr>
      <vt:lpstr>簡単なおみくじの概要</vt:lpstr>
      <vt:lpstr>コードの区分</vt:lpstr>
      <vt:lpstr>コードの区分</vt:lpstr>
      <vt:lpstr>画面の設計（UI）</vt:lpstr>
      <vt:lpstr>画面の設計（UI）</vt:lpstr>
      <vt:lpstr>おみくじの根幹部分</vt:lpstr>
      <vt:lpstr>データ保存部分</vt:lpstr>
      <vt:lpstr>データ保存部分</vt:lpstr>
      <vt:lpstr>ご清聴ありがとうございました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ei2539_森下侑哉</dc:creator>
  <cp:lastModifiedBy>ei2539_森下侑哉</cp:lastModifiedBy>
  <cp:revision>102</cp:revision>
  <dcterms:created xsi:type="dcterms:W3CDTF">2026-01-07T03:55:33Z</dcterms:created>
  <dcterms:modified xsi:type="dcterms:W3CDTF">2026-01-13T08:05:18Z</dcterms:modified>
</cp:coreProperties>
</file>