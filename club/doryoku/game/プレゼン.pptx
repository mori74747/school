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163EC-CE3F-232C-D645-4D360346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25E777-D7BA-09C9-B889-64922B7A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A850EE-F7F5-9D56-1504-775E2743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9EED87-8696-45DA-9F6A-F3E4A50CF86E}"/>
              </a:ext>
            </a:extLst>
          </p:cNvPr>
          <p:cNvSpPr/>
          <p:nvPr/>
        </p:nvSpPr>
        <p:spPr>
          <a:xfrm>
            <a:off x="6239991" y="202691"/>
            <a:ext cx="2113472" cy="2113472"/>
          </a:xfrm>
          <a:prstGeom prst="ellipse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3187708A-D40F-D9EF-0142-08354D535C85}"/>
              </a:ext>
            </a:extLst>
          </p:cNvPr>
          <p:cNvSpPr/>
          <p:nvPr/>
        </p:nvSpPr>
        <p:spPr>
          <a:xfrm>
            <a:off x="9877463" y="1996027"/>
            <a:ext cx="2113472" cy="2113472"/>
          </a:xfrm>
          <a:prstGeom prst="ellipse">
            <a:avLst/>
          </a:prstGeom>
          <a:solidFill>
            <a:srgbClr val="33CC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7F7FF8C-2EC1-C39B-309B-5B4998E0333E}"/>
              </a:ext>
            </a:extLst>
          </p:cNvPr>
          <p:cNvSpPr/>
          <p:nvPr/>
        </p:nvSpPr>
        <p:spPr>
          <a:xfrm>
            <a:off x="7449127" y="3876421"/>
            <a:ext cx="2113472" cy="2113472"/>
          </a:xfrm>
          <a:prstGeom prst="ellipse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8E83-BDC1-CEE7-3EDC-28C3AAF4F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87600"/>
          </a:xfrm>
          <a:solidFill>
            <a:schemeClr val="bg1">
              <a:alpha val="30000"/>
            </a:schemeClr>
          </a:solidFill>
          <a:ln w="63500">
            <a:noFill/>
          </a:ln>
        </p:spPr>
        <p:txBody>
          <a:bodyPr anchor="ctr" anchorCtr="1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1BBEC8-FEEC-9631-EEEC-2FAE711899C9}"/>
              </a:ext>
            </a:extLst>
          </p:cNvPr>
          <p:cNvSpPr>
            <a:spLocks noGrp="1" noChangeAspect="1"/>
          </p:cNvSpPr>
          <p:nvPr>
            <p:ph type="subTitle" idx="1" hasCustomPrompt="1"/>
          </p:nvPr>
        </p:nvSpPr>
        <p:spPr>
          <a:xfrm>
            <a:off x="3188497" y="3288006"/>
            <a:ext cx="5869690" cy="1080000"/>
          </a:xfrm>
          <a:solidFill>
            <a:schemeClr val="bg1">
              <a:alpha val="30000"/>
            </a:schemeClr>
          </a:solidFill>
        </p:spPr>
        <p:txBody>
          <a:bodyPr anchor="ctr" anchorCtr="1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テスト用に表示して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5AEFEA0-A035-CB88-5EAC-0FBC3596D40A}"/>
              </a:ext>
            </a:extLst>
          </p:cNvPr>
          <p:cNvCxnSpPr/>
          <p:nvPr/>
        </p:nvCxnSpPr>
        <p:spPr>
          <a:xfrm>
            <a:off x="4835218" y="4100873"/>
            <a:ext cx="2558472" cy="0"/>
          </a:xfrm>
          <a:prstGeom prst="line">
            <a:avLst/>
          </a:prstGeom>
          <a:ln w="38100">
            <a:solidFill>
              <a:srgbClr val="0070C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AB70EF3A-39DD-5362-9245-8B984B9800A3}"/>
              </a:ext>
            </a:extLst>
          </p:cNvPr>
          <p:cNvSpPr/>
          <p:nvPr/>
        </p:nvSpPr>
        <p:spPr>
          <a:xfrm flipH="1">
            <a:off x="9562599" y="1645991"/>
            <a:ext cx="1105400" cy="1063972"/>
          </a:xfrm>
          <a:custGeom>
            <a:avLst/>
            <a:gdLst>
              <a:gd name="connsiteX0" fmla="*/ 1 w 3533954"/>
              <a:gd name="connsiteY0" fmla="*/ 189780 h 1532530"/>
              <a:gd name="connsiteX1" fmla="*/ 3218873 w 3533954"/>
              <a:gd name="connsiteY1" fmla="*/ 1532529 h 1532530"/>
              <a:gd name="connsiteX2" fmla="*/ 1 w 3533954"/>
              <a:gd name="connsiteY2" fmla="*/ 1532529 h 1532530"/>
              <a:gd name="connsiteX3" fmla="*/ 0 w 3533954"/>
              <a:gd name="connsiteY3" fmla="*/ 0 h 1532530"/>
              <a:gd name="connsiteX4" fmla="*/ 0 w 3533954"/>
              <a:gd name="connsiteY4" fmla="*/ 1532530 h 1532530"/>
              <a:gd name="connsiteX5" fmla="*/ 3533954 w 3533954"/>
              <a:gd name="connsiteY5" fmla="*/ 1532530 h 153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3954" h="1532530">
                <a:moveTo>
                  <a:pt x="1" y="189780"/>
                </a:moveTo>
                <a:lnTo>
                  <a:pt x="3218873" y="1532529"/>
                </a:lnTo>
                <a:lnTo>
                  <a:pt x="1" y="1532529"/>
                </a:lnTo>
                <a:close/>
                <a:moveTo>
                  <a:pt x="0" y="0"/>
                </a:moveTo>
                <a:lnTo>
                  <a:pt x="0" y="1532530"/>
                </a:lnTo>
                <a:lnTo>
                  <a:pt x="3533954" y="1532530"/>
                </a:lnTo>
                <a:close/>
              </a:path>
            </a:pathLst>
          </a:cu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4507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C303F2-53FF-2ADF-A8D8-65556852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08FDA1-A63A-0205-9F55-BB2A311D3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19F496-CEC1-467E-8062-FA004580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3913A6-4249-C027-DDD1-82730CF1E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E96612-9525-F4E4-814E-364FBCF6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64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BBEB4B-D5CE-24D2-2566-A9115460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093431-9B25-E1EA-BC35-7CDDE320D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413E84-B738-509C-D557-D604E5B4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4DE0F6-25F4-0465-BCED-DF06A3077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B88C247-F293-29B2-970F-1FA39D4F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762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7AF014-7D3E-4950-67A2-1ABB4A7E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3FDCA5-0BEC-0517-8018-27E64943C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663BBD5-7B0B-4B6C-39FF-0A508913A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8C5607-3EE5-8143-E568-6763CB6D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6226D2-CDA2-B3F5-86EC-157628CD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0BCA49-FF05-B3C6-55F9-E487BB34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55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B7EE5-71FB-017E-1AE4-D6DA9B45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16E7ED-7DFE-5965-57F5-9EBC17037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A9D28E-188A-D5AE-89EC-1D45240EB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0D649A-84E4-768F-EA7A-6051E451D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3363AD-90BD-5233-F514-C0C33BCD0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FCBEEF2-E06B-25A6-0B04-EE5729C6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BBA939-F76C-B41B-E172-5C0C262E3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744F0AC-8B99-380C-F53B-CF69F519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7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4A338-7A31-476C-FB53-3B42307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E529D0-320B-0B4F-40B0-AB42B64A5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C2690C-2F8A-DDB9-06EF-9F3C3A4F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219385-E292-B74A-E466-2E6CF1D72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36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99146C2-1CFA-75BB-88A1-10924752E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918A57A-C25C-9E27-814A-E2145C048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9D1559-EFF6-CCF8-271B-21D039C4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614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2C5E8E-44EE-250D-112D-AE78F36E9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162EBA-9E8D-F0C1-4BDB-728D4C2E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1F942D-CA8E-4CA5-DAF8-67AC1109C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1E0ECE-BE15-5613-8DC1-66C1DCC0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0F82A3-02DA-FE2D-E1D3-04AC56846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99FB54-A7C3-CD0D-C7D0-9D50FE17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88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C607E-DBDC-0B19-B82F-69E5E0DD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251B67A-8645-90D3-481D-AB274D064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AACC90-758F-1D5C-1548-AEC4EC21C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818808-96B4-5278-6D7E-048F008B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20FD2E-AE78-159B-D2B3-986D95E84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AAD02B-809F-264D-C4BA-1F01377F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621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76FB73-B364-9112-1E3C-7F4D8A36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290EEB-CA60-F0D2-BD9E-F8FFD1201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BF39A5-A423-D86D-BA21-D4AA6D22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B2B0F6-45C1-839C-7AF5-A68701219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67744-3A33-361E-4456-6F734121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123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82CD5F7-B68C-9580-345F-7F4474C6D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0085E7-0D97-9BC2-99D7-DAB82635B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99BA70-3CBA-C958-C88C-780CECDB0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864DD3-B772-631E-111F-847AD207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30B277-3B3D-0C89-845A-D06C4AF6E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0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3A7A99-1A24-ABAD-837C-1427DF48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88E9D3-2353-A604-2D1E-DF9E026ED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258BDC-D9A6-9117-0457-97604D0E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08206-F765-49FF-A9D0-A690BD83BCF2}" type="datetimeFigureOut">
              <a:rPr kumimoji="1" lang="ja-JP" altLang="en-US" smtClean="0"/>
              <a:t>2026/3/31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6C1AC4-7516-2FB0-B347-693E0A40F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729B07-AC7B-814B-2131-0702C73E1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98B49-DC81-415A-BEF1-CAFD1E112AD8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F5528DAF-8E05-1C62-4B7C-5F5ED0BC93D2}"/>
              </a:ext>
            </a:extLst>
          </p:cNvPr>
          <p:cNvCxnSpPr/>
          <p:nvPr/>
        </p:nvCxnSpPr>
        <p:spPr>
          <a:xfrm>
            <a:off x="5589918" y="301925"/>
            <a:ext cx="5529532" cy="0"/>
          </a:xfrm>
          <a:prstGeom prst="line">
            <a:avLst/>
          </a:prstGeom>
          <a:ln w="50800">
            <a:solidFill>
              <a:srgbClr val="FF000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0C2BF06-BCEE-3BE6-2D0A-F029A38BAEDD}"/>
              </a:ext>
            </a:extLst>
          </p:cNvPr>
          <p:cNvCxnSpPr/>
          <p:nvPr/>
        </p:nvCxnSpPr>
        <p:spPr>
          <a:xfrm>
            <a:off x="976741" y="6247259"/>
            <a:ext cx="5529532" cy="0"/>
          </a:xfrm>
          <a:prstGeom prst="line">
            <a:avLst/>
          </a:prstGeom>
          <a:ln w="50800">
            <a:solidFill>
              <a:srgbClr val="33CC33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930D6BEE-2FA4-2067-AEC7-BBFA1FB37C88}"/>
              </a:ext>
            </a:extLst>
          </p:cNvPr>
          <p:cNvSpPr/>
          <p:nvPr/>
        </p:nvSpPr>
        <p:spPr>
          <a:xfrm rot="5400000">
            <a:off x="-512337" y="483172"/>
            <a:ext cx="1854791" cy="830120"/>
          </a:xfrm>
          <a:custGeom>
            <a:avLst/>
            <a:gdLst>
              <a:gd name="connsiteX0" fmla="*/ 0 w 1450111"/>
              <a:gd name="connsiteY0" fmla="*/ 838200 h 838200"/>
              <a:gd name="connsiteX1" fmla="*/ 0 w 1450111"/>
              <a:gd name="connsiteY1" fmla="*/ 0 h 838200"/>
              <a:gd name="connsiteX2" fmla="*/ 788747 w 1450111"/>
              <a:gd name="connsiteY2" fmla="*/ 261086 h 838200"/>
              <a:gd name="connsiteX3" fmla="*/ 1450111 w 1450111"/>
              <a:gd name="connsiteY3" fmla="*/ 838200 h 838200"/>
              <a:gd name="connsiteX4" fmla="*/ 0 w 1450111"/>
              <a:gd name="connsiteY4" fmla="*/ 8382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111" h="838200">
                <a:moveTo>
                  <a:pt x="0" y="838200"/>
                </a:moveTo>
                <a:lnTo>
                  <a:pt x="0" y="0"/>
                </a:lnTo>
                <a:lnTo>
                  <a:pt x="788747" y="261086"/>
                </a:lnTo>
                <a:lnTo>
                  <a:pt x="1450111" y="838200"/>
                </a:lnTo>
                <a:lnTo>
                  <a:pt x="0" y="838200"/>
                </a:lnTo>
                <a:close/>
              </a:path>
            </a:pathLst>
          </a:custGeom>
          <a:solidFill>
            <a:srgbClr val="00B0F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39367F9B-62E8-E8C2-54F5-284C1F4C6915}"/>
              </a:ext>
            </a:extLst>
          </p:cNvPr>
          <p:cNvSpPr/>
          <p:nvPr/>
        </p:nvSpPr>
        <p:spPr>
          <a:xfrm rot="5400000">
            <a:off x="-847014" y="817842"/>
            <a:ext cx="2532224" cy="838202"/>
          </a:xfrm>
          <a:custGeom>
            <a:avLst/>
            <a:gdLst>
              <a:gd name="connsiteX0" fmla="*/ 0 w 2532224"/>
              <a:gd name="connsiteY0" fmla="*/ 838202 h 838202"/>
              <a:gd name="connsiteX1" fmla="*/ 0 w 2532224"/>
              <a:gd name="connsiteY1" fmla="*/ 0 h 838202"/>
              <a:gd name="connsiteX2" fmla="*/ 3 w 2532224"/>
              <a:gd name="connsiteY2" fmla="*/ 1 h 838202"/>
              <a:gd name="connsiteX3" fmla="*/ 3 w 2532224"/>
              <a:gd name="connsiteY3" fmla="*/ 838201 h 838202"/>
              <a:gd name="connsiteX4" fmla="*/ 1450114 w 2532224"/>
              <a:gd name="connsiteY4" fmla="*/ 838201 h 838202"/>
              <a:gd name="connsiteX5" fmla="*/ 788750 w 2532224"/>
              <a:gd name="connsiteY5" fmla="*/ 261087 h 838202"/>
              <a:gd name="connsiteX6" fmla="*/ 2532224 w 2532224"/>
              <a:gd name="connsiteY6" fmla="*/ 838202 h 838202"/>
              <a:gd name="connsiteX7" fmla="*/ 0 w 2532224"/>
              <a:gd name="connsiteY7" fmla="*/ 838202 h 838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2224" h="838202">
                <a:moveTo>
                  <a:pt x="0" y="838202"/>
                </a:moveTo>
                <a:lnTo>
                  <a:pt x="0" y="0"/>
                </a:lnTo>
                <a:lnTo>
                  <a:pt x="3" y="1"/>
                </a:lnTo>
                <a:lnTo>
                  <a:pt x="3" y="838201"/>
                </a:lnTo>
                <a:lnTo>
                  <a:pt x="1450114" y="838201"/>
                </a:lnTo>
                <a:lnTo>
                  <a:pt x="788750" y="261087"/>
                </a:lnTo>
                <a:lnTo>
                  <a:pt x="2532224" y="838202"/>
                </a:lnTo>
                <a:lnTo>
                  <a:pt x="0" y="838202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5" name="フリーフォーム: 図形 34">
            <a:extLst>
              <a:ext uri="{FF2B5EF4-FFF2-40B4-BE49-F238E27FC236}">
                <a16:creationId xmlns:a16="http://schemas.microsoft.com/office/drawing/2014/main" id="{762F2183-486D-2618-A529-D8F206CFEB45}"/>
              </a:ext>
            </a:extLst>
          </p:cNvPr>
          <p:cNvSpPr/>
          <p:nvPr/>
        </p:nvSpPr>
        <p:spPr>
          <a:xfrm rot="5400000">
            <a:off x="526874" y="21073"/>
            <a:ext cx="788747" cy="688270"/>
          </a:xfrm>
          <a:custGeom>
            <a:avLst/>
            <a:gdLst>
              <a:gd name="connsiteX0" fmla="*/ 0 w 788747"/>
              <a:gd name="connsiteY0" fmla="*/ 427184 h 688270"/>
              <a:gd name="connsiteX1" fmla="*/ 0 w 788747"/>
              <a:gd name="connsiteY1" fmla="*/ 0 h 688270"/>
              <a:gd name="connsiteX2" fmla="*/ 788747 w 788747"/>
              <a:gd name="connsiteY2" fmla="*/ 688270 h 688270"/>
              <a:gd name="connsiteX3" fmla="*/ 0 w 788747"/>
              <a:gd name="connsiteY3" fmla="*/ 427184 h 68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747" h="688270">
                <a:moveTo>
                  <a:pt x="0" y="427184"/>
                </a:moveTo>
                <a:lnTo>
                  <a:pt x="0" y="0"/>
                </a:lnTo>
                <a:lnTo>
                  <a:pt x="788747" y="688270"/>
                </a:lnTo>
                <a:lnTo>
                  <a:pt x="0" y="427184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32BE5CA9-1B46-483F-F564-A422770719A0}"/>
              </a:ext>
            </a:extLst>
          </p:cNvPr>
          <p:cNvSpPr/>
          <p:nvPr/>
        </p:nvSpPr>
        <p:spPr>
          <a:xfrm rot="5400000">
            <a:off x="-1647957" y="1133343"/>
            <a:ext cx="4117948" cy="838202"/>
          </a:xfrm>
          <a:custGeom>
            <a:avLst/>
            <a:gdLst>
              <a:gd name="connsiteX0" fmla="*/ 0 w 2532224"/>
              <a:gd name="connsiteY0" fmla="*/ 838202 h 838202"/>
              <a:gd name="connsiteX1" fmla="*/ 0 w 2532224"/>
              <a:gd name="connsiteY1" fmla="*/ 0 h 838202"/>
              <a:gd name="connsiteX2" fmla="*/ 3 w 2532224"/>
              <a:gd name="connsiteY2" fmla="*/ 1 h 838202"/>
              <a:gd name="connsiteX3" fmla="*/ 3 w 2532224"/>
              <a:gd name="connsiteY3" fmla="*/ 838201 h 838202"/>
              <a:gd name="connsiteX4" fmla="*/ 1450114 w 2532224"/>
              <a:gd name="connsiteY4" fmla="*/ 838201 h 838202"/>
              <a:gd name="connsiteX5" fmla="*/ 788750 w 2532224"/>
              <a:gd name="connsiteY5" fmla="*/ 261087 h 838202"/>
              <a:gd name="connsiteX6" fmla="*/ 2532224 w 2532224"/>
              <a:gd name="connsiteY6" fmla="*/ 838202 h 838202"/>
              <a:gd name="connsiteX7" fmla="*/ 0 w 2532224"/>
              <a:gd name="connsiteY7" fmla="*/ 838202 h 838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32224" h="838202">
                <a:moveTo>
                  <a:pt x="0" y="838202"/>
                </a:moveTo>
                <a:lnTo>
                  <a:pt x="0" y="0"/>
                </a:lnTo>
                <a:lnTo>
                  <a:pt x="3" y="1"/>
                </a:lnTo>
                <a:lnTo>
                  <a:pt x="3" y="838201"/>
                </a:lnTo>
                <a:lnTo>
                  <a:pt x="1450114" y="838201"/>
                </a:lnTo>
                <a:lnTo>
                  <a:pt x="788750" y="261087"/>
                </a:lnTo>
                <a:lnTo>
                  <a:pt x="2532224" y="838202"/>
                </a:lnTo>
                <a:lnTo>
                  <a:pt x="0" y="838202"/>
                </a:lnTo>
                <a:close/>
              </a:path>
            </a:pathLst>
          </a:custGeom>
          <a:solidFill>
            <a:srgbClr val="00B0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64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GPｺﾞｼｯｸE" panose="020B0900000000000000" pitchFamily="50" charset="-128"/>
          <a:ea typeface="HGPｺﾞｼｯｸE" panose="020B09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579D0-66BF-FF86-E87B-A2EF090D3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マイクラ風</a:t>
            </a:r>
            <a:r>
              <a:rPr lang="en-US" altLang="ja-JP" b="1" dirty="0">
                <a:latin typeface="Consolas" panose="020B0609020204030204" pitchFamily="49" charset="0"/>
              </a:rPr>
              <a:t>FPS</a:t>
            </a:r>
            <a:r>
              <a:rPr lang="ja-JP" altLang="en-US" dirty="0">
                <a:latin typeface="Consolas" panose="020B0609020204030204" pitchFamily="49" charset="0"/>
              </a:rPr>
              <a:t>ゲーム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47002E3-62E5-9C91-B10A-9194A3002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>
                <a:latin typeface="Consolas" panose="020B0609020204030204" pitchFamily="49" charset="0"/>
              </a:rPr>
              <a:t>ei2539 </a:t>
            </a:r>
            <a:r>
              <a:rPr lang="ja-JP" altLang="en-US" dirty="0">
                <a:latin typeface="Consolas" panose="020B0609020204030204" pitchFamily="49" charset="0"/>
              </a:rPr>
              <a:t>森下侑哉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625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A090B-5778-DABE-50D7-7FFD87870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作った目的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90F276-89BA-8906-06CE-39B388A57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>
                <a:latin typeface="Consolas" panose="020B0609020204030204" pitchFamily="49" charset="0"/>
              </a:rPr>
              <a:t>Web</a:t>
            </a:r>
            <a:r>
              <a:rPr kumimoji="1" lang="ja-JP" altLang="en-US" dirty="0"/>
              <a:t>で遊べる３</a:t>
            </a:r>
            <a:r>
              <a:rPr kumimoji="1" lang="en-US" altLang="ja-JP" dirty="0"/>
              <a:t>D</a:t>
            </a:r>
            <a:r>
              <a:rPr kumimoji="1" lang="ja-JP" altLang="en-US" dirty="0"/>
              <a:t>ゲームを作りたかった</a:t>
            </a:r>
            <a:br>
              <a:rPr kumimoji="1" lang="en-US" altLang="ja-JP" dirty="0"/>
            </a:br>
            <a:r>
              <a:rPr kumimoji="1" lang="ja-JP" altLang="en-US" dirty="0"/>
              <a:t>結果、マイクラ風ゲームが一番コーディングしやすかった。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友達がやっているような</a:t>
            </a:r>
            <a:r>
              <a:rPr kumimoji="1" lang="en-US" altLang="ja-JP" b="1" dirty="0">
                <a:latin typeface="Consolas" panose="020B0609020204030204" pitchFamily="49" charset="0"/>
              </a:rPr>
              <a:t>FPS</a:t>
            </a:r>
            <a:r>
              <a:rPr kumimoji="1" lang="ja-JP" altLang="en-US" dirty="0">
                <a:latin typeface="Consolas" panose="020B0609020204030204" pitchFamily="49" charset="0"/>
              </a:rPr>
              <a:t>ゲームを作ってみたかった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04004BC-DBE3-D1A3-3B1D-1AA9B87B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368" y="3829586"/>
            <a:ext cx="4615158" cy="27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233E78-3DFF-BF2E-C6F1-C90F31AC7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学んだ知識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C6F3EC-BE2D-BD73-AF2B-13AC99BBC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基礎的な</a:t>
            </a:r>
            <a:r>
              <a:rPr kumimoji="1" lang="en-US" altLang="ja-JP" b="1" dirty="0">
                <a:latin typeface="Consolas" panose="020B0609020204030204" pitchFamily="49" charset="0"/>
              </a:rPr>
              <a:t>Web</a:t>
            </a:r>
            <a:r>
              <a:rPr kumimoji="1" lang="ja-JP" altLang="en-US" dirty="0"/>
              <a:t>ゲームの作り方</a:t>
            </a:r>
            <a:br>
              <a:rPr kumimoji="1" lang="en-US" altLang="ja-JP" dirty="0"/>
            </a:br>
            <a:r>
              <a:rPr kumimoji="1" lang="en-US" altLang="ja-JP" b="1" dirty="0" err="1">
                <a:latin typeface="Consolas" panose="020B0609020204030204" pitchFamily="49" charset="0"/>
              </a:rPr>
              <a:t>Html,CSS,JavaScript</a:t>
            </a:r>
            <a:endParaRPr lang="en-US" altLang="ja-JP" b="1" dirty="0">
              <a:latin typeface="Consolas" panose="020B0609020204030204" pitchFamily="49" charset="0"/>
            </a:endParaRPr>
          </a:p>
          <a:p>
            <a:endParaRPr kumimoji="1" lang="en-US" altLang="ja-JP" dirty="0"/>
          </a:p>
          <a:p>
            <a:r>
              <a:rPr lang="en-US" altLang="ja-JP" b="1" dirty="0">
                <a:latin typeface="Consolas" panose="020B0609020204030204" pitchFamily="49" charset="0"/>
              </a:rPr>
              <a:t>JavaScript</a:t>
            </a:r>
            <a:r>
              <a:rPr lang="ja-JP" altLang="en-US" dirty="0">
                <a:latin typeface="Consolas" panose="020B0609020204030204" pitchFamily="49" charset="0"/>
              </a:rPr>
              <a:t>で使える</a:t>
            </a:r>
            <a:r>
              <a:rPr lang="ja-JP" altLang="en-US" dirty="0"/>
              <a:t>「</a:t>
            </a:r>
            <a:r>
              <a:rPr lang="en-US" altLang="ja-JP" b="1" dirty="0">
                <a:latin typeface="Consolas" panose="020B0609020204030204" pitchFamily="49" charset="0"/>
              </a:rPr>
              <a:t>Node.js</a:t>
            </a:r>
            <a:r>
              <a:rPr lang="ja-JP" altLang="en-US" dirty="0"/>
              <a:t>」「</a:t>
            </a:r>
            <a:r>
              <a:rPr lang="en-US" altLang="ja-JP" b="1" dirty="0">
                <a:latin typeface="Consolas" panose="020B0609020204030204" pitchFamily="49" charset="0"/>
              </a:rPr>
              <a:t>Three.js</a:t>
            </a:r>
            <a:r>
              <a:rPr lang="ja-JP" altLang="en-US" dirty="0"/>
              <a:t>」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en-US" altLang="ja-JP" b="1" dirty="0">
                <a:latin typeface="Consolas" panose="020B0609020204030204" pitchFamily="49" charset="0"/>
              </a:rPr>
              <a:t>Node.js</a:t>
            </a:r>
          </a:p>
          <a:p>
            <a:pPr marL="914400" lvl="2" indent="0">
              <a:buNone/>
            </a:pPr>
            <a:r>
              <a:rPr kumimoji="1" lang="ja-JP" altLang="en-US" dirty="0"/>
              <a:t>サーバーのような働きをする</a:t>
            </a:r>
            <a:r>
              <a:rPr lang="en-US" altLang="ja-JP" b="1" dirty="0">
                <a:latin typeface="Consolas" panose="020B0609020204030204" pitchFamily="49" charset="0"/>
              </a:rPr>
              <a:t>JavaScript</a:t>
            </a:r>
            <a:r>
              <a:rPr lang="ja-JP" altLang="en-US" dirty="0"/>
              <a:t>の実行環境。</a:t>
            </a:r>
            <a:endParaRPr lang="en-US" altLang="ja-JP" dirty="0"/>
          </a:p>
          <a:p>
            <a:pPr marL="914400" lvl="2" indent="0">
              <a:buNone/>
            </a:pPr>
            <a:r>
              <a:rPr lang="en-US" altLang="ja-JP" b="1" dirty="0">
                <a:latin typeface="Consolas" panose="020B0609020204030204" pitchFamily="49" charset="0"/>
              </a:rPr>
              <a:t>LAN</a:t>
            </a:r>
            <a:r>
              <a:rPr lang="ja-JP" altLang="en-US" dirty="0"/>
              <a:t>対戦にも使う</a:t>
            </a:r>
            <a:endParaRPr kumimoji="1" lang="en-US" altLang="ja-JP" dirty="0"/>
          </a:p>
          <a:p>
            <a:pPr lvl="1"/>
            <a:r>
              <a:rPr lang="en-US" altLang="ja-JP" b="1" dirty="0">
                <a:latin typeface="Consolas" panose="020B0609020204030204" pitchFamily="49" charset="0"/>
              </a:rPr>
              <a:t>Three.js</a:t>
            </a:r>
          </a:p>
          <a:p>
            <a:pPr marL="914400" lvl="2" indent="0">
              <a:buNone/>
            </a:pPr>
            <a:r>
              <a:rPr kumimoji="1" lang="ja-JP" altLang="en-US" dirty="0">
                <a:latin typeface="Consolas" panose="020B0609020204030204" pitchFamily="49" charset="0"/>
              </a:rPr>
              <a:t>ブラウザ上で</a:t>
            </a:r>
            <a:r>
              <a:rPr lang="ja-JP" altLang="en-US" dirty="0">
                <a:latin typeface="Consolas" panose="020B0609020204030204" pitchFamily="49" charset="0"/>
              </a:rPr>
              <a:t>３</a:t>
            </a:r>
            <a:r>
              <a:rPr lang="en-US" altLang="ja-JP" dirty="0"/>
              <a:t>D</a:t>
            </a:r>
            <a:r>
              <a:rPr lang="ja-JP" altLang="en-US" dirty="0"/>
              <a:t>コンテンツを製作できる</a:t>
            </a:r>
            <a:r>
              <a:rPr lang="en-US" altLang="ja-JP" b="1" dirty="0">
                <a:latin typeface="Consolas" panose="020B0609020204030204" pitchFamily="49" charset="0"/>
              </a:rPr>
              <a:t>JavaScript</a:t>
            </a:r>
            <a:r>
              <a:rPr lang="ja-JP" altLang="en-US" dirty="0"/>
              <a:t>ライブラリ</a:t>
            </a:r>
            <a:endParaRPr kumimoji="1" lang="en-US" altLang="ja-JP" dirty="0"/>
          </a:p>
        </p:txBody>
      </p:sp>
      <p:pic>
        <p:nvPicPr>
          <p:cNvPr id="1034" name="Picture 10" descr="How to learn JavaScript coding on a Mac | Macworld">
            <a:extLst>
              <a:ext uri="{FF2B5EF4-FFF2-40B4-BE49-F238E27FC236}">
                <a16:creationId xmlns:a16="http://schemas.microsoft.com/office/drawing/2014/main" id="{32F47F74-BFE6-4601-6548-A2D5EA2CF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573" y="944779"/>
            <a:ext cx="3986517" cy="22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74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42D337-BC1D-5DE7-ACC1-A31077F6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ゲーム説明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47EE21-9508-15BA-518A-29F571AAC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マイクラ風の３</a:t>
            </a:r>
            <a:r>
              <a:rPr kumimoji="1" lang="en-US" altLang="ja-JP" dirty="0"/>
              <a:t>D</a:t>
            </a:r>
            <a:r>
              <a:rPr kumimoji="1" lang="ja-JP" altLang="en-US" dirty="0"/>
              <a:t>ゲーム</a:t>
            </a:r>
            <a:endParaRPr kumimoji="1" lang="en-US" altLang="ja-JP" dirty="0"/>
          </a:p>
          <a:p>
            <a:r>
              <a:rPr lang="en-US" altLang="ja-JP" b="1" dirty="0">
                <a:latin typeface="Consolas" panose="020B0609020204030204" pitchFamily="49" charset="0"/>
              </a:rPr>
              <a:t>FPS</a:t>
            </a:r>
            <a:r>
              <a:rPr lang="ja-JP" altLang="en-US" dirty="0">
                <a:latin typeface="Consolas" panose="020B0609020204030204" pitchFamily="49" charset="0"/>
              </a:rPr>
              <a:t>要素も含んだ</a:t>
            </a:r>
            <a:r>
              <a:rPr lang="en-US" altLang="ja-JP" b="1" dirty="0">
                <a:latin typeface="Consolas" panose="020B0609020204030204" pitchFamily="49" charset="0"/>
              </a:rPr>
              <a:t>LAN</a:t>
            </a:r>
            <a:r>
              <a:rPr lang="ja-JP" altLang="en-US" dirty="0">
                <a:latin typeface="Consolas" panose="020B0609020204030204" pitchFamily="49" charset="0"/>
              </a:rPr>
              <a:t>対戦可能なアクションゲーム</a:t>
            </a:r>
            <a:endParaRPr lang="en-US" altLang="ja-JP" dirty="0">
              <a:latin typeface="Consolas" panose="020B0609020204030204" pitchFamily="49" charset="0"/>
            </a:endParaRPr>
          </a:p>
          <a:p>
            <a:pPr lvl="1"/>
            <a:r>
              <a:rPr kumimoji="1" lang="ja-JP" altLang="en-US" dirty="0">
                <a:latin typeface="Consolas" panose="020B0609020204030204" pitchFamily="49" charset="0"/>
              </a:rPr>
              <a:t>壁キックや壁を矢で破壊できる要素など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pPr lvl="1"/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ja-JP" altLang="en-US" dirty="0">
                <a:latin typeface="Consolas" panose="020B0609020204030204" pitchFamily="49" charset="0"/>
              </a:rPr>
              <a:t>マイクラ要素のブロック破壊</a:t>
            </a:r>
            <a:r>
              <a:rPr kumimoji="1" lang="en-US" altLang="ja-JP" dirty="0">
                <a:latin typeface="Consolas" panose="020B0609020204030204" pitchFamily="49" charset="0"/>
              </a:rPr>
              <a:t>/</a:t>
            </a:r>
            <a:r>
              <a:rPr kumimoji="1" lang="ja-JP" altLang="en-US" dirty="0">
                <a:latin typeface="Consolas" panose="020B0609020204030204" pitchFamily="49" charset="0"/>
              </a:rPr>
              <a:t>設置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65B0B75-7055-6A5D-AF54-89F9CA8F9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4" r="25007" b="11706"/>
          <a:stretch>
            <a:fillRect/>
          </a:stretch>
        </p:blipFill>
        <p:spPr>
          <a:xfrm>
            <a:off x="8469746" y="2668800"/>
            <a:ext cx="4398514" cy="266981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F0B5C52-45CD-BE2B-BBB6-A143DDEC1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726" y="4418303"/>
            <a:ext cx="4094082" cy="216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6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56D50F-11FE-68D2-B677-BE462FA6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latin typeface="Consolas" panose="020B0609020204030204" pitchFamily="49" charset="0"/>
              </a:rPr>
              <a:t>LAN</a:t>
            </a:r>
            <a:r>
              <a:rPr kumimoji="1" lang="ja-JP" altLang="en-US" dirty="0"/>
              <a:t>対戦について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F8FE13-250E-8782-C7E3-4AF3B729D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>
                <a:latin typeface="Consolas" panose="020B0609020204030204" pitchFamily="49" charset="0"/>
              </a:rPr>
              <a:t>LAN</a:t>
            </a:r>
            <a:r>
              <a:rPr kumimoji="1" lang="ja-JP" altLang="en-US" dirty="0"/>
              <a:t>対戦に対応している</a:t>
            </a:r>
            <a:endParaRPr lang="en-US" altLang="ja-JP" dirty="0"/>
          </a:p>
          <a:p>
            <a:pPr lvl="1"/>
            <a:r>
              <a:rPr kumimoji="1" lang="ja-JP" altLang="en-US" dirty="0"/>
              <a:t>同じネットワーク内であれば、対戦可能</a:t>
            </a:r>
            <a:br>
              <a:rPr kumimoji="1" lang="en-US" altLang="ja-JP" dirty="0"/>
            </a:br>
            <a:r>
              <a:rPr kumimoji="1" lang="en-US" altLang="ja-JP" sz="2000" dirty="0"/>
              <a:t>※</a:t>
            </a:r>
            <a:r>
              <a:rPr kumimoji="1" lang="en-US" altLang="ja-JP" b="1" dirty="0">
                <a:latin typeface="Consolas" panose="020B0609020204030204" pitchFamily="49" charset="0"/>
              </a:rPr>
              <a:t>Hamako-</a:t>
            </a:r>
            <a:r>
              <a:rPr kumimoji="1" lang="en-US" altLang="ja-JP" b="1" dirty="0" err="1">
                <a:latin typeface="Consolas" panose="020B0609020204030204" pitchFamily="49" charset="0"/>
              </a:rPr>
              <a:t>Wifi</a:t>
            </a:r>
            <a:r>
              <a:rPr kumimoji="1" lang="ja-JP" altLang="en-US" dirty="0"/>
              <a:t>ではおそらく不可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b="1" dirty="0">
                <a:latin typeface="Consolas" panose="020B0609020204030204" pitchFamily="49" charset="0"/>
              </a:rPr>
              <a:t>Node.js</a:t>
            </a:r>
            <a:r>
              <a:rPr lang="ja-JP" altLang="en-US" dirty="0">
                <a:latin typeface="Consolas" panose="020B0609020204030204" pitchFamily="49" charset="0"/>
              </a:rPr>
              <a:t>のモジュール「</a:t>
            </a:r>
            <a:r>
              <a:rPr lang="en-US" altLang="ja-JP" b="1" dirty="0">
                <a:latin typeface="Consolas" panose="020B0609020204030204" pitchFamily="49" charset="0"/>
              </a:rPr>
              <a:t>Socket.io</a:t>
            </a:r>
            <a:r>
              <a:rPr lang="ja-JP" altLang="en-US" dirty="0">
                <a:latin typeface="Consolas" panose="020B0609020204030204" pitchFamily="49" charset="0"/>
              </a:rPr>
              <a:t>」</a:t>
            </a:r>
            <a:endParaRPr lang="en-US" altLang="ja-JP" dirty="0">
              <a:latin typeface="Consolas" panose="020B0609020204030204" pitchFamily="49" charset="0"/>
            </a:endParaRPr>
          </a:p>
          <a:p>
            <a:pPr lvl="1"/>
            <a:r>
              <a:rPr lang="ja-JP" altLang="en-US" dirty="0">
                <a:latin typeface="Consolas" panose="020B0609020204030204" pitchFamily="49" charset="0"/>
              </a:rPr>
              <a:t>ネット対戦を可能にするモジュール</a:t>
            </a:r>
            <a:endParaRPr lang="en-US" altLang="ja-JP" dirty="0">
              <a:latin typeface="Consolas" panose="020B0609020204030204" pitchFamily="49" charset="0"/>
            </a:endParaRPr>
          </a:p>
          <a:p>
            <a:pPr lvl="1"/>
            <a:r>
              <a:rPr lang="ja-JP" altLang="en-US" dirty="0">
                <a:latin typeface="Consolas" panose="020B0609020204030204" pitchFamily="49" charset="0"/>
              </a:rPr>
              <a:t>後々はオンライン対戦も可能に</a:t>
            </a:r>
            <a:endParaRPr lang="en-US" altLang="ja-JP" dirty="0">
              <a:latin typeface="Consolas" panose="020B0609020204030204" pitchFamily="49" charset="0"/>
            </a:endParaRPr>
          </a:p>
        </p:txBody>
      </p:sp>
      <p:pic>
        <p:nvPicPr>
          <p:cNvPr id="2050" name="Picture 2" descr="NodeJSでWebアプリケーション開発 – Socket.IO編 - Avinton Japan">
            <a:extLst>
              <a:ext uri="{FF2B5EF4-FFF2-40B4-BE49-F238E27FC236}">
                <a16:creationId xmlns:a16="http://schemas.microsoft.com/office/drawing/2014/main" id="{18237FEA-8A33-C7E7-E123-BCD91F91E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596" y="4663426"/>
            <a:ext cx="3742314" cy="133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46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ACFE18-FE55-914E-9A7C-17CA64E4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コード概要</a:t>
            </a:r>
            <a:r>
              <a:rPr kumimoji="1" lang="en-US" altLang="ja-JP" dirty="0"/>
              <a:t>(1)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DC49C6-05A1-A67D-02B6-1FA9CDDF6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ライブラリ「</a:t>
            </a:r>
            <a:r>
              <a:rPr kumimoji="1" lang="en-US" altLang="ja-JP" b="1" dirty="0">
                <a:latin typeface="Consolas" panose="020B0609020204030204" pitchFamily="49" charset="0"/>
              </a:rPr>
              <a:t>Three.js</a:t>
            </a:r>
            <a:r>
              <a:rPr kumimoji="1" lang="ja-JP" altLang="en-US" dirty="0"/>
              <a:t>」による描画</a:t>
            </a:r>
            <a:endParaRPr kumimoji="1" lang="en-US" altLang="ja-JP" dirty="0"/>
          </a:p>
          <a:p>
            <a:pPr lvl="1"/>
            <a:r>
              <a:rPr lang="ja-JP" altLang="en-US" dirty="0"/>
              <a:t>本来なら何百行もかかる描画処理を一任している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r>
              <a:rPr lang="ja-JP" altLang="en-US" dirty="0"/>
              <a:t>１秒間に約６０回の描画更新</a:t>
            </a:r>
            <a:endParaRPr lang="en-US" altLang="ja-JP" dirty="0"/>
          </a:p>
          <a:p>
            <a:pPr lvl="1"/>
            <a:r>
              <a:rPr kumimoji="1" lang="ja-JP" altLang="en-US" dirty="0"/>
              <a:t>プレイヤーの座標などのデータを更新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描画を</a:t>
            </a:r>
            <a:r>
              <a:rPr kumimoji="1" lang="en-US" altLang="ja-JP" b="1" dirty="0">
                <a:latin typeface="Consolas" panose="020B0609020204030204" pitchFamily="49" charset="0"/>
              </a:rPr>
              <a:t>Three.js</a:t>
            </a:r>
            <a:r>
              <a:rPr kumimoji="1" lang="ja-JP" altLang="en-US" dirty="0">
                <a:latin typeface="Consolas" panose="020B0609020204030204" pitchFamily="49" charset="0"/>
              </a:rPr>
              <a:t>に処理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pPr lvl="1"/>
            <a:endParaRPr lang="en-US" altLang="ja-JP" dirty="0">
              <a:latin typeface="Consolas" panose="020B0609020204030204" pitchFamily="49" charset="0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57AB1ED-C082-496E-6BD2-CF2D54224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517" y="3825608"/>
            <a:ext cx="3778594" cy="191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5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F805F-D545-6FC0-5DB4-049A7CCE7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コード概要</a:t>
            </a:r>
            <a:r>
              <a:rPr kumimoji="1" lang="en-US" altLang="ja-JP" dirty="0"/>
              <a:t>(2)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B0CECB-DB2A-2A17-0D63-709203894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チャンクによるブロック管理</a:t>
            </a:r>
            <a:endParaRPr kumimoji="1" lang="en-US" altLang="ja-JP" dirty="0"/>
          </a:p>
          <a:p>
            <a:pPr lvl="1"/>
            <a:r>
              <a:rPr lang="en-US" altLang="ja-JP" dirty="0"/>
              <a:t>16×16×16</a:t>
            </a:r>
            <a:r>
              <a:rPr lang="ja-JP" altLang="en-US" dirty="0"/>
              <a:t>の範囲をチャンクで管理</a:t>
            </a:r>
            <a:endParaRPr lang="en-US" altLang="ja-JP" dirty="0"/>
          </a:p>
          <a:p>
            <a:pPr lvl="1"/>
            <a:r>
              <a:rPr kumimoji="1" lang="ja-JP" altLang="en-US" dirty="0"/>
              <a:t>チャンクによって更新範囲を決めている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>
                <a:latin typeface="Consolas" panose="020B0609020204030204" pitchFamily="49" charset="0"/>
              </a:rPr>
              <a:t>コードだけによる物理演算</a:t>
            </a:r>
            <a:endParaRPr lang="en-US" altLang="ja-JP" dirty="0">
              <a:latin typeface="Consolas" panose="020B0609020204030204" pitchFamily="49" charset="0"/>
            </a:endParaRPr>
          </a:p>
          <a:p>
            <a:pPr lvl="1"/>
            <a:r>
              <a:rPr lang="ja-JP" altLang="en-US" dirty="0">
                <a:latin typeface="Consolas" panose="020B0609020204030204" pitchFamily="49" charset="0"/>
              </a:rPr>
              <a:t>重力や加速度、ブロック衝突の予測など</a:t>
            </a:r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0DE0B33-8AF0-D482-9AD2-1BBFF44D8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249" y="2939090"/>
            <a:ext cx="5147387" cy="355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1E011-C0CF-53A8-1B9B-2F67C4B8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大変だったこと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F32942-C767-6574-CE63-8E4F1CEC2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>
                <a:latin typeface="Consolas" panose="020B0609020204030204" pitchFamily="49" charset="0"/>
              </a:rPr>
              <a:t>Three.js</a:t>
            </a:r>
            <a:r>
              <a:rPr kumimoji="1" lang="ja-JP" altLang="en-US" dirty="0"/>
              <a:t>を使った３</a:t>
            </a:r>
            <a:r>
              <a:rPr kumimoji="1" lang="en-US" altLang="ja-JP" dirty="0"/>
              <a:t>D</a:t>
            </a:r>
            <a:r>
              <a:rPr kumimoji="1" lang="ja-JP" altLang="en-US" dirty="0"/>
              <a:t>描画</a:t>
            </a:r>
            <a:endParaRPr kumimoji="1" lang="en-US" altLang="ja-JP" dirty="0"/>
          </a:p>
          <a:p>
            <a:pPr lvl="1"/>
            <a:r>
              <a:rPr kumimoji="1" lang="en-US" altLang="ja-JP" b="1" dirty="0">
                <a:latin typeface="Consolas" panose="020B0609020204030204" pitchFamily="49" charset="0"/>
              </a:rPr>
              <a:t>Mesh</a:t>
            </a:r>
            <a:r>
              <a:rPr kumimoji="1" lang="ja-JP" altLang="en-US" dirty="0">
                <a:latin typeface="Consolas" panose="020B0609020204030204" pitchFamily="49" charset="0"/>
              </a:rPr>
              <a:t>という空間上の物体をデータにして描画する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pPr lvl="1"/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ja-JP" altLang="en-US" dirty="0">
                <a:latin typeface="Consolas" panose="020B0609020204030204" pitchFamily="49" charset="0"/>
              </a:rPr>
              <a:t>物理演算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pPr lvl="1"/>
            <a:r>
              <a:rPr lang="ja-JP" altLang="en-US" dirty="0">
                <a:latin typeface="Consolas" panose="020B0609020204030204" pitchFamily="49" charset="0"/>
              </a:rPr>
              <a:t>使用するのは重力や加速度といった公式</a:t>
            </a:r>
            <a:endParaRPr lang="en-US" altLang="ja-JP" dirty="0">
              <a:latin typeface="Consolas" panose="020B0609020204030204" pitchFamily="49" charset="0"/>
            </a:endParaRPr>
          </a:p>
          <a:p>
            <a:pPr lvl="1"/>
            <a:r>
              <a:rPr kumimoji="1" lang="ja-JP" altLang="en-US" dirty="0">
                <a:latin typeface="Consolas" panose="020B0609020204030204" pitchFamily="49" charset="0"/>
              </a:rPr>
              <a:t>理解はしているがコードへの実装が大変だった。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pPr lvl="1"/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ja-JP" altLang="en-US" dirty="0">
                <a:latin typeface="Consolas" panose="020B0609020204030204" pitchFamily="49" charset="0"/>
              </a:rPr>
              <a:t>サーバー同期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pPr lvl="1"/>
            <a:r>
              <a:rPr lang="ja-JP" altLang="en-US" dirty="0">
                <a:latin typeface="Consolas" panose="020B0609020204030204" pitchFamily="49" charset="0"/>
              </a:rPr>
              <a:t>プレイヤーの行動によってワールドを反映させる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53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E57C59-D94C-B627-360B-B218A482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工夫したこと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B55781-8B3C-0A23-67D0-34A6EAF0E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>
                <a:latin typeface="Consolas" panose="020B0609020204030204" pitchFamily="49" charset="0"/>
              </a:rPr>
              <a:t>FPS</a:t>
            </a:r>
            <a:r>
              <a:rPr lang="ja-JP" altLang="en-US" dirty="0"/>
              <a:t>ゲーム要素として「壁キック」</a:t>
            </a:r>
            <a:endParaRPr lang="en-US" altLang="ja-JP" dirty="0"/>
          </a:p>
          <a:p>
            <a:pPr lvl="1"/>
            <a:r>
              <a:rPr kumimoji="1" lang="ja-JP" altLang="en-US" dirty="0"/>
              <a:t>自然的な加速度、初速度を目指した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チャージ時間によって変化する弓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チャージ時間によって力が変化</a:t>
            </a:r>
            <a:endParaRPr kumimoji="1" lang="en-US" altLang="ja-JP" dirty="0"/>
          </a:p>
          <a:p>
            <a:pPr lvl="1"/>
            <a:r>
              <a:rPr lang="ja-JP" altLang="en-US" dirty="0"/>
              <a:t>力を溜めるほど遠くに飛ぶ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64388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1B8EF8-F1D7-25AB-595A-4AC74140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今後の展望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C9F621-DF44-A2F3-F860-F6F65A91E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オンライン対戦の実装を目指す</a:t>
            </a:r>
            <a:endParaRPr lang="en-US" altLang="ja-JP" dirty="0"/>
          </a:p>
          <a:p>
            <a:pPr lvl="1"/>
            <a:r>
              <a:rPr kumimoji="1" lang="en-US" altLang="ja-JP" b="1" dirty="0">
                <a:latin typeface="Consolas" panose="020B0609020204030204" pitchFamily="49" charset="0"/>
              </a:rPr>
              <a:t>Socket.io</a:t>
            </a:r>
            <a:r>
              <a:rPr kumimoji="1" lang="ja-JP" altLang="en-US" dirty="0"/>
              <a:t>をさらに深めていく</a:t>
            </a:r>
            <a:endParaRPr kumimoji="1" lang="en-US" altLang="ja-JP" dirty="0"/>
          </a:p>
          <a:p>
            <a:pPr lvl="1"/>
            <a:endParaRPr lang="en-US" altLang="ja-JP" dirty="0"/>
          </a:p>
          <a:p>
            <a:r>
              <a:rPr kumimoji="1" lang="ja-JP" altLang="en-US" dirty="0"/>
              <a:t>クラフトシステム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使い道のない棒などのアイテムを活用</a:t>
            </a:r>
            <a:endParaRPr kumimoji="1" lang="en-US" altLang="ja-JP" dirty="0"/>
          </a:p>
          <a:p>
            <a:pPr lvl="1"/>
            <a:r>
              <a:rPr lang="ja-JP" altLang="en-US" dirty="0"/>
              <a:t>さらに自由度の高い</a:t>
            </a:r>
            <a:r>
              <a:rPr lang="en-US" altLang="ja-JP" b="1" dirty="0">
                <a:latin typeface="Consolas" panose="020B0609020204030204" pitchFamily="49" charset="0"/>
              </a:rPr>
              <a:t>FPS</a:t>
            </a:r>
            <a:r>
              <a:rPr lang="ja-JP" altLang="en-US" dirty="0"/>
              <a:t>ゲームへ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pic>
        <p:nvPicPr>
          <p:cNvPr id="4100" name="Picture 4" descr="インターネットの仕組み｜データの送受信・表示の流れと基本用語 | コラム | 業務用wifi(無線lan)のフルノシステムズ">
            <a:extLst>
              <a:ext uri="{FF2B5EF4-FFF2-40B4-BE49-F238E27FC236}">
                <a16:creationId xmlns:a16="http://schemas.microsoft.com/office/drawing/2014/main" id="{EDFBF3E3-86DE-A3B9-7F73-5B56048BB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5775" y="1293091"/>
            <a:ext cx="2450907" cy="193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15D5CE3-9B1D-E12D-3C03-3ACE0DD8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76684"/>
            <a:ext cx="5902035" cy="22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36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D897AA-74C6-ECFE-61D4-FD6CC9098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ご清聴ありがとうございました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FC4717-10DB-66CA-724A-DB6C704D8D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ei2539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535145"/>
      </p:ext>
    </p:extLst>
  </p:cSld>
  <p:clrMapOvr>
    <a:masterClrMapping/>
  </p:clrMapOvr>
</p:sld>
</file>

<file path=ppt/theme/theme1.xml><?xml version="1.0" encoding="utf-8"?>
<a:theme xmlns:a="http://schemas.openxmlformats.org/drawingml/2006/main" name="RGBcolo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B0F0"/>
        </a:solidFill>
        <a:ln>
          <a:noFill/>
        </a:ln>
      </a:spPr>
      <a:bodyPr wrap="square" rtlCol="0" anchor="ctr">
        <a:noAutofit/>
      </a:bodyPr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GBcolor" id="{5AB29331-1A7E-4807-9974-47D9A9E2D453}" vid="{0F6CA15F-A8EA-459D-8012-8875FCEFD77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RGBcolor</Template>
  <TotalTime>105</TotalTime>
  <Words>402</Words>
  <Application>Microsoft Office PowerPoint</Application>
  <PresentationFormat>ワイド画面</PresentationFormat>
  <Paragraphs>69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HGPｺﾞｼｯｸE</vt:lpstr>
      <vt:lpstr>游ゴシック</vt:lpstr>
      <vt:lpstr>Arial</vt:lpstr>
      <vt:lpstr>Consolas</vt:lpstr>
      <vt:lpstr>RGBcolor</vt:lpstr>
      <vt:lpstr>マイクラ風FPSゲーム</vt:lpstr>
      <vt:lpstr>作った目的</vt:lpstr>
      <vt:lpstr>学んだ知識</vt:lpstr>
      <vt:lpstr>ゲーム説明</vt:lpstr>
      <vt:lpstr>LAN対戦について</vt:lpstr>
      <vt:lpstr>コード概要(1)</vt:lpstr>
      <vt:lpstr>コード概要(2)</vt:lpstr>
      <vt:lpstr>大変だったこと</vt:lpstr>
      <vt:lpstr>工夫したこと</vt:lpstr>
      <vt:lpstr>今後の展望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ei2539_森下侑哉</dc:creator>
  <cp:lastModifiedBy>ei2539_森下侑哉</cp:lastModifiedBy>
  <cp:revision>44</cp:revision>
  <dcterms:created xsi:type="dcterms:W3CDTF">2026-03-22T23:59:51Z</dcterms:created>
  <dcterms:modified xsi:type="dcterms:W3CDTF">2026-03-30T19:58:33Z</dcterms:modified>
</cp:coreProperties>
</file>